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76" r:id="rId4"/>
    <p:sldId id="258" r:id="rId5"/>
    <p:sldId id="259" r:id="rId6"/>
    <p:sldId id="260" r:id="rId7"/>
    <p:sldId id="261" r:id="rId8"/>
    <p:sldId id="262" r:id="rId9"/>
    <p:sldId id="277" r:id="rId10"/>
    <p:sldId id="263" r:id="rId11"/>
    <p:sldId id="275" r:id="rId12"/>
    <p:sldId id="278" r:id="rId13"/>
    <p:sldId id="267" r:id="rId14"/>
    <p:sldId id="270" r:id="rId15"/>
  </p:sldIdLst>
  <p:sldSz cx="18288000" cy="10287000"/>
  <p:notesSz cx="6858000" cy="9144000"/>
  <p:embeddedFontLst>
    <p:embeddedFont>
      <p:font typeface="Calibri" panose="020F0502020204030204" pitchFamily="34" charset="0"/>
      <p:regular r:id="rId16"/>
      <p:bold r:id="rId17"/>
      <p:italic r:id="rId18"/>
      <p:boldItalic r:id="rId19"/>
    </p:embeddedFont>
    <p:embeddedFont>
      <p:font typeface="Arimo" panose="020B0604020202020204" charset="0"/>
      <p:regular r:id="rId20"/>
    </p:embeddedFont>
    <p:embeddedFont>
      <p:font typeface="Cooper Black" panose="0208090404030B020404" pitchFamily="18" charset="0"/>
      <p:regular r:id="rId21"/>
    </p:embeddedFont>
    <p:embeddedFont>
      <p:font typeface="Helvetica" panose="020B0604020202020204" pitchFamily="34" charset="0"/>
      <p:regular r:id="rId22"/>
      <p:bold r:id="rId23"/>
      <p:italic r:id="rId24"/>
      <p:boldItalic r:id="rId25"/>
    </p:embeddedFont>
    <p:embeddedFont>
      <p:font typeface="Clear Sans Bold"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27/05/2024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27/05/2024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27/05/2024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27/05/2024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27/05/2024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27/05/2024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27/05/2024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27/05/2024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27/05/2024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27/05/2024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27/05/2024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27/05/2024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
        <p:cNvGrpSpPr/>
        <p:nvPr/>
      </p:nvGrpSpPr>
      <p:grpSpPr>
        <a:xfrm>
          <a:off x="0" y="0"/>
          <a:ext cx="0" cy="0"/>
          <a:chOff x="0" y="0"/>
          <a:chExt cx="0" cy="0"/>
        </a:xfrm>
      </p:grpSpPr>
      <p:sp>
        <p:nvSpPr>
          <p:cNvPr id="2" name="Freeform 2"/>
          <p:cNvSpPr/>
          <p:nvPr/>
        </p:nvSpPr>
        <p:spPr>
          <a:xfrm rot="-1432890">
            <a:off x="15633874" y="2828175"/>
            <a:ext cx="1525575" cy="1332871"/>
          </a:xfrm>
          <a:custGeom>
            <a:avLst/>
            <a:gdLst/>
            <a:ahLst/>
            <a:cxnLst/>
            <a:rect l="l" t="t" r="r" b="b"/>
            <a:pathLst>
              <a:path w="1525575" h="1332871">
                <a:moveTo>
                  <a:pt x="0" y="0"/>
                </a:moveTo>
                <a:lnTo>
                  <a:pt x="1525575" y="0"/>
                </a:lnTo>
                <a:lnTo>
                  <a:pt x="1525575" y="1332871"/>
                </a:lnTo>
                <a:lnTo>
                  <a:pt x="0" y="1332871"/>
                </a:lnTo>
                <a:lnTo>
                  <a:pt x="0" y="0"/>
                </a:lnTo>
                <a:close/>
              </a:path>
            </a:pathLst>
          </a:custGeom>
          <a:blipFill>
            <a:blip r:embed="rId2"/>
            <a:stretch>
              <a:fillRect/>
            </a:stretch>
          </a:blipFill>
        </p:spPr>
      </p:sp>
      <p:sp>
        <p:nvSpPr>
          <p:cNvPr id="3" name="Freeform 3"/>
          <p:cNvSpPr/>
          <p:nvPr/>
        </p:nvSpPr>
        <p:spPr>
          <a:xfrm>
            <a:off x="1676400" y="1070219"/>
            <a:ext cx="12192000" cy="8416681"/>
          </a:xfrm>
          <a:custGeom>
            <a:avLst/>
            <a:gdLst/>
            <a:ahLst/>
            <a:cxnLst/>
            <a:rect l="l" t="t" r="r" b="b"/>
            <a:pathLst>
              <a:path w="14688425" h="8487775">
                <a:moveTo>
                  <a:pt x="0" y="0"/>
                </a:moveTo>
                <a:lnTo>
                  <a:pt x="14688425" y="0"/>
                </a:lnTo>
                <a:lnTo>
                  <a:pt x="14688425" y="8487775"/>
                </a:lnTo>
                <a:lnTo>
                  <a:pt x="0" y="8487775"/>
                </a:lnTo>
                <a:lnTo>
                  <a:pt x="0" y="0"/>
                </a:lnTo>
                <a:close/>
              </a:path>
            </a:pathLst>
          </a:custGeom>
          <a:blipFill>
            <a:blip r:embed="rId3"/>
            <a:stretch>
              <a:fillRect/>
            </a:stretch>
          </a:blipFill>
        </p:spPr>
      </p:sp>
      <p:sp>
        <p:nvSpPr>
          <p:cNvPr id="4" name="Freeform 4"/>
          <p:cNvSpPr/>
          <p:nvPr/>
        </p:nvSpPr>
        <p:spPr>
          <a:xfrm>
            <a:off x="978519" y="1070219"/>
            <a:ext cx="1101991" cy="1045871"/>
          </a:xfrm>
          <a:custGeom>
            <a:avLst/>
            <a:gdLst/>
            <a:ahLst/>
            <a:cxnLst/>
            <a:rect l="l" t="t" r="r" b="b"/>
            <a:pathLst>
              <a:path w="1101991" h="1045871">
                <a:moveTo>
                  <a:pt x="0" y="0"/>
                </a:moveTo>
                <a:lnTo>
                  <a:pt x="1101991" y="0"/>
                </a:lnTo>
                <a:lnTo>
                  <a:pt x="1101991" y="1045871"/>
                </a:lnTo>
                <a:lnTo>
                  <a:pt x="0" y="1045871"/>
                </a:lnTo>
                <a:lnTo>
                  <a:pt x="0" y="0"/>
                </a:lnTo>
                <a:close/>
              </a:path>
            </a:pathLst>
          </a:custGeom>
          <a:blipFill>
            <a:blip r:embed="rId4"/>
            <a:stretch>
              <a:fillRect/>
            </a:stretch>
          </a:blipFill>
        </p:spPr>
      </p:sp>
      <p:sp>
        <p:nvSpPr>
          <p:cNvPr id="5" name="TextBox 5"/>
          <p:cNvSpPr txBox="1"/>
          <p:nvPr/>
        </p:nvSpPr>
        <p:spPr>
          <a:xfrm>
            <a:off x="1403923" y="1729301"/>
            <a:ext cx="16272370" cy="3385542"/>
          </a:xfrm>
          <a:prstGeom prst="rect">
            <a:avLst/>
          </a:prstGeom>
        </p:spPr>
        <p:txBody>
          <a:bodyPr wrap="square" lIns="0" tIns="0" rIns="0" bIns="0" rtlCol="0" anchor="t">
            <a:spAutoFit/>
          </a:bodyPr>
          <a:lstStyle/>
          <a:p>
            <a:pPr algn="ctr">
              <a:lnSpc>
                <a:spcPts val="13200"/>
              </a:lnSpc>
            </a:pPr>
            <a:r>
              <a:rPr lang="en-US" sz="11000" smtClean="0">
                <a:solidFill>
                  <a:schemeClr val="accent5">
                    <a:lumMod val="50000"/>
                  </a:schemeClr>
                </a:solidFill>
                <a:latin typeface="Cooper Black" pitchFamily="18" charset="0"/>
                <a:cs typeface="Times New Roman" panose="02020603050405020304" pitchFamily="18" charset="0"/>
              </a:rPr>
              <a:t>QUẢN LÝ VĂN PHÒNG</a:t>
            </a:r>
          </a:p>
          <a:p>
            <a:pPr algn="ctr">
              <a:lnSpc>
                <a:spcPts val="13200"/>
              </a:lnSpc>
            </a:pPr>
            <a:r>
              <a:rPr lang="en-US" sz="11000" smtClean="0">
                <a:solidFill>
                  <a:schemeClr val="accent5">
                    <a:lumMod val="50000"/>
                  </a:schemeClr>
                </a:solidFill>
                <a:latin typeface="Cooper Black" pitchFamily="18" charset="0"/>
                <a:cs typeface="Times New Roman" panose="02020603050405020304" pitchFamily="18" charset="0"/>
              </a:rPr>
              <a:t>PHẨM</a:t>
            </a:r>
            <a:endParaRPr lang="en-US" sz="11000" dirty="0">
              <a:solidFill>
                <a:schemeClr val="accent5">
                  <a:lumMod val="50000"/>
                </a:schemeClr>
              </a:solidFill>
              <a:latin typeface="Cooper Black" pitchFamily="18" charset="0"/>
              <a:cs typeface="Times New Roman" panose="02020603050405020304" pitchFamily="18" charset="0"/>
            </a:endParaRPr>
          </a:p>
        </p:txBody>
      </p:sp>
      <p:sp>
        <p:nvSpPr>
          <p:cNvPr id="6" name="Freeform 6"/>
          <p:cNvSpPr/>
          <p:nvPr/>
        </p:nvSpPr>
        <p:spPr>
          <a:xfrm>
            <a:off x="15240082" y="4265253"/>
            <a:ext cx="2502028" cy="1339529"/>
          </a:xfrm>
          <a:custGeom>
            <a:avLst/>
            <a:gdLst/>
            <a:ahLst/>
            <a:cxnLst/>
            <a:rect l="l" t="t" r="r" b="b"/>
            <a:pathLst>
              <a:path w="2502028" h="1339529">
                <a:moveTo>
                  <a:pt x="0" y="0"/>
                </a:moveTo>
                <a:lnTo>
                  <a:pt x="2502028" y="0"/>
                </a:lnTo>
                <a:lnTo>
                  <a:pt x="2502028" y="1339529"/>
                </a:lnTo>
                <a:lnTo>
                  <a:pt x="0" y="1339529"/>
                </a:lnTo>
                <a:lnTo>
                  <a:pt x="0" y="0"/>
                </a:lnTo>
                <a:close/>
              </a:path>
            </a:pathLst>
          </a:custGeom>
          <a:blipFill>
            <a:blip r:embed="rId5"/>
            <a:stretch>
              <a:fillRect/>
            </a:stretch>
          </a:blipFill>
        </p:spPr>
      </p:sp>
      <p:sp>
        <p:nvSpPr>
          <p:cNvPr id="7" name="Freeform 7"/>
          <p:cNvSpPr/>
          <p:nvPr/>
        </p:nvSpPr>
        <p:spPr>
          <a:xfrm>
            <a:off x="8223797" y="93731"/>
            <a:ext cx="1738878" cy="1901456"/>
          </a:xfrm>
          <a:custGeom>
            <a:avLst/>
            <a:gdLst/>
            <a:ahLst/>
            <a:cxnLst/>
            <a:rect l="l" t="t" r="r" b="b"/>
            <a:pathLst>
              <a:path w="1738878" h="1901456">
                <a:moveTo>
                  <a:pt x="0" y="0"/>
                </a:moveTo>
                <a:lnTo>
                  <a:pt x="1738878" y="0"/>
                </a:lnTo>
                <a:lnTo>
                  <a:pt x="1738878" y="1901457"/>
                </a:lnTo>
                <a:lnTo>
                  <a:pt x="0" y="1901457"/>
                </a:lnTo>
                <a:lnTo>
                  <a:pt x="0" y="0"/>
                </a:lnTo>
                <a:close/>
              </a:path>
            </a:pathLst>
          </a:custGeom>
          <a:blipFill>
            <a:blip r:embed="rId6"/>
            <a:stretch>
              <a:fillRect/>
            </a:stretch>
          </a:blipFill>
        </p:spPr>
      </p:sp>
      <p:sp>
        <p:nvSpPr>
          <p:cNvPr id="8" name="Freeform 8"/>
          <p:cNvSpPr/>
          <p:nvPr/>
        </p:nvSpPr>
        <p:spPr>
          <a:xfrm>
            <a:off x="15145199" y="449179"/>
            <a:ext cx="2037234" cy="1468147"/>
          </a:xfrm>
          <a:custGeom>
            <a:avLst/>
            <a:gdLst/>
            <a:ahLst/>
            <a:cxnLst/>
            <a:rect l="l" t="t" r="r" b="b"/>
            <a:pathLst>
              <a:path w="2037234" h="1468147">
                <a:moveTo>
                  <a:pt x="0" y="0"/>
                </a:moveTo>
                <a:lnTo>
                  <a:pt x="2037234" y="0"/>
                </a:lnTo>
                <a:lnTo>
                  <a:pt x="2037234" y="1468147"/>
                </a:lnTo>
                <a:lnTo>
                  <a:pt x="0" y="1468147"/>
                </a:lnTo>
                <a:lnTo>
                  <a:pt x="0" y="0"/>
                </a:lnTo>
                <a:close/>
              </a:path>
            </a:pathLst>
          </a:custGeom>
          <a:blipFill>
            <a:blip r:embed="rId7"/>
            <a:stretch>
              <a:fillRect/>
            </a:stretch>
          </a:blipFill>
        </p:spPr>
      </p:sp>
      <p:sp>
        <p:nvSpPr>
          <p:cNvPr id="9" name="Freeform 9"/>
          <p:cNvSpPr/>
          <p:nvPr/>
        </p:nvSpPr>
        <p:spPr>
          <a:xfrm rot="7925507">
            <a:off x="945448" y="8056053"/>
            <a:ext cx="1525575" cy="1332871"/>
          </a:xfrm>
          <a:custGeom>
            <a:avLst/>
            <a:gdLst/>
            <a:ahLst/>
            <a:cxnLst/>
            <a:rect l="l" t="t" r="r" b="b"/>
            <a:pathLst>
              <a:path w="1525575" h="1332871">
                <a:moveTo>
                  <a:pt x="0" y="0"/>
                </a:moveTo>
                <a:lnTo>
                  <a:pt x="1525574" y="0"/>
                </a:lnTo>
                <a:lnTo>
                  <a:pt x="1525574" y="1332871"/>
                </a:lnTo>
                <a:lnTo>
                  <a:pt x="0" y="1332871"/>
                </a:lnTo>
                <a:lnTo>
                  <a:pt x="0" y="0"/>
                </a:lnTo>
                <a:close/>
              </a:path>
            </a:pathLst>
          </a:custGeom>
          <a:blipFill>
            <a:blip r:embed="rId2"/>
            <a:stretch>
              <a:fillRect/>
            </a:stretch>
          </a:blipFill>
        </p:spPr>
      </p:sp>
      <p:sp>
        <p:nvSpPr>
          <p:cNvPr id="10" name="Freeform 10"/>
          <p:cNvSpPr/>
          <p:nvPr/>
        </p:nvSpPr>
        <p:spPr>
          <a:xfrm rot="-2846079">
            <a:off x="16571302" y="5960275"/>
            <a:ext cx="930350" cy="882971"/>
          </a:xfrm>
          <a:custGeom>
            <a:avLst/>
            <a:gdLst/>
            <a:ahLst/>
            <a:cxnLst/>
            <a:rect l="l" t="t" r="r" b="b"/>
            <a:pathLst>
              <a:path w="930350" h="882971">
                <a:moveTo>
                  <a:pt x="0" y="0"/>
                </a:moveTo>
                <a:lnTo>
                  <a:pt x="930349" y="0"/>
                </a:lnTo>
                <a:lnTo>
                  <a:pt x="930349" y="882971"/>
                </a:lnTo>
                <a:lnTo>
                  <a:pt x="0" y="882971"/>
                </a:lnTo>
                <a:lnTo>
                  <a:pt x="0" y="0"/>
                </a:lnTo>
                <a:close/>
              </a:path>
            </a:pathLst>
          </a:custGeom>
          <a:blipFill>
            <a:blip r:embed="rId4"/>
            <a:stretch>
              <a:fillRect/>
            </a:stretch>
          </a:blipFill>
        </p:spPr>
      </p:sp>
      <p:grpSp>
        <p:nvGrpSpPr>
          <p:cNvPr id="11" name="Group 11"/>
          <p:cNvGrpSpPr/>
          <p:nvPr/>
        </p:nvGrpSpPr>
        <p:grpSpPr>
          <a:xfrm>
            <a:off x="1403923" y="5096967"/>
            <a:ext cx="8153217" cy="1110544"/>
            <a:chOff x="0" y="-6926"/>
            <a:chExt cx="10870956" cy="1480724"/>
          </a:xfrm>
        </p:grpSpPr>
        <p:sp>
          <p:nvSpPr>
            <p:cNvPr id="12" name="TextBox 12"/>
            <p:cNvSpPr txBox="1"/>
            <p:nvPr/>
          </p:nvSpPr>
          <p:spPr>
            <a:xfrm>
              <a:off x="0" y="-6926"/>
              <a:ext cx="10870956" cy="1262699"/>
            </a:xfrm>
            <a:prstGeom prst="rect">
              <a:avLst/>
            </a:prstGeom>
          </p:spPr>
          <p:txBody>
            <a:bodyPr lIns="0" tIns="0" rIns="0" bIns="0" rtlCol="0" anchor="t">
              <a:spAutoFit/>
            </a:bodyPr>
            <a:lstStyle/>
            <a:p>
              <a:pPr>
                <a:lnSpc>
                  <a:spcPts val="7565"/>
                </a:lnSpc>
                <a:spcBef>
                  <a:spcPct val="0"/>
                </a:spcBef>
              </a:pPr>
              <a:endParaRPr/>
            </a:p>
          </p:txBody>
        </p:sp>
        <p:sp>
          <p:nvSpPr>
            <p:cNvPr id="13" name="TextBox 13"/>
            <p:cNvSpPr txBox="1"/>
            <p:nvPr/>
          </p:nvSpPr>
          <p:spPr>
            <a:xfrm>
              <a:off x="1022528" y="670160"/>
              <a:ext cx="7588004" cy="803638"/>
            </a:xfrm>
            <a:prstGeom prst="rect">
              <a:avLst/>
            </a:prstGeom>
          </p:spPr>
          <p:txBody>
            <a:bodyPr lIns="0" tIns="0" rIns="0" bIns="0" rtlCol="0" anchor="t">
              <a:spAutoFit/>
            </a:bodyPr>
            <a:lstStyle/>
            <a:p>
              <a:pPr marL="0" lvl="0" indent="0">
                <a:lnSpc>
                  <a:spcPts val="4684"/>
                </a:lnSpc>
              </a:pPr>
              <a:r>
                <a:rPr lang="en-US" sz="4000" spc="43" smtClean="0">
                  <a:solidFill>
                    <a:srgbClr val="00B050"/>
                  </a:solidFill>
                  <a:latin typeface="Times New Roman"/>
                </a:rPr>
                <a:t>GVHD: Nguyễn Thế Hữu</a:t>
              </a:r>
              <a:endParaRPr lang="en-US" sz="4000" spc="43" dirty="0">
                <a:solidFill>
                  <a:srgbClr val="00B050"/>
                </a:solidFill>
                <a:latin typeface="Times New Roman"/>
              </a:endParaRPr>
            </a:p>
          </p:txBody>
        </p:sp>
      </p:gr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E8083"/>
        </a:solidFill>
        <a:effectLst/>
      </p:bgPr>
    </p:bg>
    <p:spTree>
      <p:nvGrpSpPr>
        <p:cNvPr id="1" name=""/>
        <p:cNvGrpSpPr/>
        <p:nvPr/>
      </p:nvGrpSpPr>
      <p:grpSpPr>
        <a:xfrm>
          <a:off x="0" y="0"/>
          <a:ext cx="0" cy="0"/>
          <a:chOff x="0" y="0"/>
          <a:chExt cx="0" cy="0"/>
        </a:xfrm>
      </p:grpSpPr>
      <p:sp>
        <p:nvSpPr>
          <p:cNvPr id="2" name="TextBox 2"/>
          <p:cNvSpPr txBox="1"/>
          <p:nvPr/>
        </p:nvSpPr>
        <p:spPr>
          <a:xfrm>
            <a:off x="2286000" y="571500"/>
            <a:ext cx="13663782" cy="1220270"/>
          </a:xfrm>
          <a:prstGeom prst="rect">
            <a:avLst/>
          </a:prstGeom>
        </p:spPr>
        <p:txBody>
          <a:bodyPr lIns="0" tIns="0" rIns="0" bIns="0" rtlCol="0" anchor="t">
            <a:spAutoFit/>
          </a:bodyPr>
          <a:lstStyle/>
          <a:p>
            <a:pPr marL="0" lvl="0" indent="0" algn="ctr">
              <a:lnSpc>
                <a:spcPts val="11000"/>
              </a:lnSpc>
              <a:spcBef>
                <a:spcPct val="0"/>
              </a:spcBef>
            </a:pPr>
            <a:r>
              <a:rPr lang="en-US" sz="5400" dirty="0">
                <a:solidFill>
                  <a:srgbClr val="F3F3F3"/>
                </a:solidFill>
                <a:latin typeface="Times New Roman" panose="02020603050405020304" pitchFamily="18" charset="0"/>
                <a:cs typeface="Times New Roman" panose="02020603050405020304" pitchFamily="18" charset="0"/>
              </a:rPr>
              <a:t>THÀNH VIÊN NHÓM</a:t>
            </a:r>
          </a:p>
        </p:txBody>
      </p:sp>
      <p:sp>
        <p:nvSpPr>
          <p:cNvPr id="4" name="Freeform 4"/>
          <p:cNvSpPr/>
          <p:nvPr/>
        </p:nvSpPr>
        <p:spPr>
          <a:xfrm>
            <a:off x="-1117328" y="-790402"/>
            <a:ext cx="3223648" cy="3735639"/>
          </a:xfrm>
          <a:custGeom>
            <a:avLst/>
            <a:gdLst/>
            <a:ahLst/>
            <a:cxnLst/>
            <a:rect l="l" t="t" r="r" b="b"/>
            <a:pathLst>
              <a:path w="3223648" h="3735639">
                <a:moveTo>
                  <a:pt x="0" y="0"/>
                </a:moveTo>
                <a:lnTo>
                  <a:pt x="3223648" y="0"/>
                </a:lnTo>
                <a:lnTo>
                  <a:pt x="3223648" y="3735639"/>
                </a:lnTo>
                <a:lnTo>
                  <a:pt x="0" y="3735639"/>
                </a:lnTo>
                <a:lnTo>
                  <a:pt x="0" y="0"/>
                </a:lnTo>
                <a:close/>
              </a:path>
            </a:pathLst>
          </a:custGeom>
          <a:blipFill>
            <a:blip r:embed="rId2"/>
            <a:stretch>
              <a:fillRect/>
            </a:stretch>
          </a:blipFill>
        </p:spPr>
      </p:sp>
      <p:sp>
        <p:nvSpPr>
          <p:cNvPr id="5" name="Freeform 5"/>
          <p:cNvSpPr/>
          <p:nvPr/>
        </p:nvSpPr>
        <p:spPr>
          <a:xfrm rot="122722">
            <a:off x="271786" y="612605"/>
            <a:ext cx="2476725" cy="1325983"/>
          </a:xfrm>
          <a:custGeom>
            <a:avLst/>
            <a:gdLst/>
            <a:ahLst/>
            <a:cxnLst/>
            <a:rect l="l" t="t" r="r" b="b"/>
            <a:pathLst>
              <a:path w="2476725" h="1325983">
                <a:moveTo>
                  <a:pt x="0" y="0"/>
                </a:moveTo>
                <a:lnTo>
                  <a:pt x="2476725" y="0"/>
                </a:lnTo>
                <a:lnTo>
                  <a:pt x="2476725" y="1325982"/>
                </a:lnTo>
                <a:lnTo>
                  <a:pt x="0" y="1325982"/>
                </a:lnTo>
                <a:lnTo>
                  <a:pt x="0" y="0"/>
                </a:lnTo>
                <a:close/>
              </a:path>
            </a:pathLst>
          </a:custGeom>
          <a:blipFill>
            <a:blip r:embed="rId3"/>
            <a:stretch>
              <a:fillRect/>
            </a:stretch>
          </a:blipFill>
        </p:spPr>
      </p:sp>
      <p:graphicFrame>
        <p:nvGraphicFramePr>
          <p:cNvPr id="8" name="Table 7">
            <a:extLst>
              <a:ext uri="{FF2B5EF4-FFF2-40B4-BE49-F238E27FC236}">
                <a16:creationId xmlns:a16="http://schemas.microsoft.com/office/drawing/2014/main" id="{2F26727C-3D73-8810-5838-39DCDB76FAA6}"/>
              </a:ext>
            </a:extLst>
          </p:cNvPr>
          <p:cNvGraphicFramePr>
            <a:graphicFrameLocks noGrp="1"/>
          </p:cNvGraphicFramePr>
          <p:nvPr>
            <p:extLst>
              <p:ext uri="{D42A27DB-BD31-4B8C-83A1-F6EECF244321}">
                <p14:modId xmlns:p14="http://schemas.microsoft.com/office/powerpoint/2010/main" val="2413921618"/>
              </p:ext>
            </p:extLst>
          </p:nvPr>
        </p:nvGraphicFramePr>
        <p:xfrm>
          <a:off x="457200" y="3008671"/>
          <a:ext cx="17373600" cy="5326977"/>
        </p:xfrm>
        <a:graphic>
          <a:graphicData uri="http://schemas.openxmlformats.org/drawingml/2006/table">
            <a:tbl>
              <a:tblPr firstRow="1" bandRow="1">
                <a:tableStyleId>{5940675A-B579-460E-94D1-54222C63F5DA}</a:tableStyleId>
              </a:tblPr>
              <a:tblGrid>
                <a:gridCol w="2319697">
                  <a:extLst>
                    <a:ext uri="{9D8B030D-6E8A-4147-A177-3AD203B41FA5}">
                      <a16:colId xmlns:a16="http://schemas.microsoft.com/office/drawing/2014/main" val="3540426649"/>
                    </a:ext>
                  </a:extLst>
                </a:gridCol>
                <a:gridCol w="4506682">
                  <a:extLst>
                    <a:ext uri="{9D8B030D-6E8A-4147-A177-3AD203B41FA5}">
                      <a16:colId xmlns:a16="http://schemas.microsoft.com/office/drawing/2014/main" val="2569096615"/>
                    </a:ext>
                  </a:extLst>
                </a:gridCol>
                <a:gridCol w="7418033">
                  <a:extLst>
                    <a:ext uri="{9D8B030D-6E8A-4147-A177-3AD203B41FA5}">
                      <a16:colId xmlns:a16="http://schemas.microsoft.com/office/drawing/2014/main" val="2995682464"/>
                    </a:ext>
                  </a:extLst>
                </a:gridCol>
                <a:gridCol w="3129188">
                  <a:extLst>
                    <a:ext uri="{9D8B030D-6E8A-4147-A177-3AD203B41FA5}">
                      <a16:colId xmlns:a16="http://schemas.microsoft.com/office/drawing/2014/main" val="2204959199"/>
                    </a:ext>
                  </a:extLst>
                </a:gridCol>
              </a:tblGrid>
              <a:tr h="604557">
                <a:tc>
                  <a:txBody>
                    <a:bodyPr/>
                    <a:lstStyle/>
                    <a:p>
                      <a:pPr algn="ctr"/>
                      <a:r>
                        <a:rPr lang="en-US" sz="3000" dirty="0">
                          <a:solidFill>
                            <a:schemeClr val="bg1"/>
                          </a:solidFill>
                          <a:latin typeface="Times New Roman" panose="02020603050405020304" pitchFamily="18" charset="0"/>
                          <a:cs typeface="Times New Roman" panose="02020603050405020304" pitchFamily="18" charset="0"/>
                        </a:rPr>
                        <a:t>MSSV</a:t>
                      </a:r>
                    </a:p>
                  </a:txBody>
                  <a:tcPr marL="154618" marR="154618" marT="77309" marB="77309"/>
                </a:tc>
                <a:tc>
                  <a:txBody>
                    <a:bodyPr/>
                    <a:lstStyle/>
                    <a:p>
                      <a:pPr algn="ctr"/>
                      <a:r>
                        <a:rPr lang="en-US" sz="3000" dirty="0" err="1">
                          <a:solidFill>
                            <a:schemeClr val="bg1"/>
                          </a:solidFill>
                          <a:latin typeface="Times New Roman" panose="02020603050405020304" pitchFamily="18" charset="0"/>
                          <a:cs typeface="Times New Roman" panose="02020603050405020304" pitchFamily="18" charset="0"/>
                        </a:rPr>
                        <a:t>Họ</a:t>
                      </a:r>
                      <a:r>
                        <a:rPr lang="en-US" sz="3000" dirty="0">
                          <a:solidFill>
                            <a:schemeClr val="bg1"/>
                          </a:solidFill>
                          <a:latin typeface="Times New Roman" panose="02020603050405020304" pitchFamily="18" charset="0"/>
                          <a:cs typeface="Times New Roman" panose="02020603050405020304" pitchFamily="18" charset="0"/>
                        </a:rPr>
                        <a:t> </a:t>
                      </a:r>
                      <a:r>
                        <a:rPr lang="en-US" sz="3000" dirty="0" err="1">
                          <a:solidFill>
                            <a:schemeClr val="bg1"/>
                          </a:solidFill>
                          <a:latin typeface="Times New Roman" panose="02020603050405020304" pitchFamily="18" charset="0"/>
                          <a:cs typeface="Times New Roman" panose="02020603050405020304" pitchFamily="18" charset="0"/>
                        </a:rPr>
                        <a:t>và</a:t>
                      </a:r>
                      <a:r>
                        <a:rPr lang="en-US" sz="3000" dirty="0">
                          <a:solidFill>
                            <a:schemeClr val="bg1"/>
                          </a:solidFill>
                          <a:latin typeface="Times New Roman" panose="02020603050405020304" pitchFamily="18" charset="0"/>
                          <a:cs typeface="Times New Roman" panose="02020603050405020304" pitchFamily="18" charset="0"/>
                        </a:rPr>
                        <a:t> </a:t>
                      </a:r>
                      <a:r>
                        <a:rPr lang="en-US" sz="3000" dirty="0" err="1">
                          <a:solidFill>
                            <a:schemeClr val="bg1"/>
                          </a:solidFill>
                          <a:latin typeface="Times New Roman" panose="02020603050405020304" pitchFamily="18" charset="0"/>
                          <a:cs typeface="Times New Roman" panose="02020603050405020304" pitchFamily="18" charset="0"/>
                        </a:rPr>
                        <a:t>Tên</a:t>
                      </a:r>
                      <a:endParaRPr lang="en-US" sz="3000" dirty="0">
                        <a:solidFill>
                          <a:schemeClr val="bg1"/>
                        </a:solidFill>
                        <a:latin typeface="Times New Roman" panose="02020603050405020304" pitchFamily="18" charset="0"/>
                        <a:cs typeface="Times New Roman" panose="02020603050405020304" pitchFamily="18" charset="0"/>
                      </a:endParaRPr>
                    </a:p>
                  </a:txBody>
                  <a:tcPr marL="154618" marR="154618" marT="77309" marB="77309"/>
                </a:tc>
                <a:tc>
                  <a:txBody>
                    <a:bodyPr/>
                    <a:lstStyle/>
                    <a:p>
                      <a:pPr algn="ctr"/>
                      <a:r>
                        <a:rPr lang="en-US" sz="3000" dirty="0" err="1">
                          <a:solidFill>
                            <a:schemeClr val="bg1"/>
                          </a:solidFill>
                          <a:latin typeface="Times New Roman" panose="02020603050405020304" pitchFamily="18" charset="0"/>
                          <a:cs typeface="Times New Roman" panose="02020603050405020304" pitchFamily="18" charset="0"/>
                        </a:rPr>
                        <a:t>Phân</a:t>
                      </a:r>
                      <a:r>
                        <a:rPr lang="en-US" sz="3000" dirty="0">
                          <a:solidFill>
                            <a:schemeClr val="bg1"/>
                          </a:solidFill>
                          <a:latin typeface="Times New Roman" panose="02020603050405020304" pitchFamily="18" charset="0"/>
                          <a:cs typeface="Times New Roman" panose="02020603050405020304" pitchFamily="18" charset="0"/>
                        </a:rPr>
                        <a:t> </a:t>
                      </a:r>
                      <a:r>
                        <a:rPr lang="en-US" sz="3000" dirty="0" err="1">
                          <a:solidFill>
                            <a:schemeClr val="bg1"/>
                          </a:solidFill>
                          <a:latin typeface="Times New Roman" panose="02020603050405020304" pitchFamily="18" charset="0"/>
                          <a:cs typeface="Times New Roman" panose="02020603050405020304" pitchFamily="18" charset="0"/>
                        </a:rPr>
                        <a:t>công</a:t>
                      </a:r>
                      <a:r>
                        <a:rPr lang="en-US" sz="3000" dirty="0">
                          <a:solidFill>
                            <a:schemeClr val="bg1"/>
                          </a:solidFill>
                          <a:latin typeface="Times New Roman" panose="02020603050405020304" pitchFamily="18" charset="0"/>
                          <a:cs typeface="Times New Roman" panose="02020603050405020304" pitchFamily="18" charset="0"/>
                        </a:rPr>
                        <a:t> </a:t>
                      </a:r>
                      <a:r>
                        <a:rPr lang="en-US" sz="3000" dirty="0" err="1">
                          <a:solidFill>
                            <a:schemeClr val="bg1"/>
                          </a:solidFill>
                          <a:latin typeface="Times New Roman" panose="02020603050405020304" pitchFamily="18" charset="0"/>
                          <a:cs typeface="Times New Roman" panose="02020603050405020304" pitchFamily="18" charset="0"/>
                        </a:rPr>
                        <a:t>công</a:t>
                      </a:r>
                      <a:r>
                        <a:rPr lang="en-US" sz="3000" dirty="0">
                          <a:solidFill>
                            <a:schemeClr val="bg1"/>
                          </a:solidFill>
                          <a:latin typeface="Times New Roman" panose="02020603050405020304" pitchFamily="18" charset="0"/>
                          <a:cs typeface="Times New Roman" panose="02020603050405020304" pitchFamily="18" charset="0"/>
                        </a:rPr>
                        <a:t> </a:t>
                      </a:r>
                      <a:r>
                        <a:rPr lang="en-US" sz="3000" dirty="0" err="1">
                          <a:solidFill>
                            <a:schemeClr val="bg1"/>
                          </a:solidFill>
                          <a:latin typeface="Times New Roman" panose="02020603050405020304" pitchFamily="18" charset="0"/>
                          <a:cs typeface="Times New Roman" panose="02020603050405020304" pitchFamily="18" charset="0"/>
                        </a:rPr>
                        <a:t>việc</a:t>
                      </a:r>
                      <a:endParaRPr lang="en-US" sz="3000" dirty="0">
                        <a:solidFill>
                          <a:schemeClr val="bg1"/>
                        </a:solidFill>
                        <a:latin typeface="Times New Roman" panose="02020603050405020304" pitchFamily="18" charset="0"/>
                        <a:cs typeface="Times New Roman" panose="02020603050405020304" pitchFamily="18" charset="0"/>
                      </a:endParaRPr>
                    </a:p>
                  </a:txBody>
                  <a:tcPr marL="154618" marR="154618" marT="77309" marB="77309"/>
                </a:tc>
                <a:tc>
                  <a:txBody>
                    <a:bodyPr/>
                    <a:lstStyle/>
                    <a:p>
                      <a:pPr algn="ctr"/>
                      <a:r>
                        <a:rPr lang="en-US" sz="3000" dirty="0">
                          <a:solidFill>
                            <a:schemeClr val="bg1"/>
                          </a:solidFill>
                          <a:latin typeface="Times New Roman" panose="02020603050405020304" pitchFamily="18" charset="0"/>
                          <a:cs typeface="Times New Roman" panose="02020603050405020304" pitchFamily="18" charset="0"/>
                        </a:rPr>
                        <a:t>Hoàn Thành</a:t>
                      </a:r>
                    </a:p>
                  </a:txBody>
                  <a:tcPr marL="154618" marR="154618" marT="77309" marB="77309"/>
                </a:tc>
                <a:extLst>
                  <a:ext uri="{0D108BD9-81ED-4DB2-BD59-A6C34878D82A}">
                    <a16:rowId xmlns:a16="http://schemas.microsoft.com/office/drawing/2014/main" val="1108246544"/>
                  </a:ext>
                </a:extLst>
              </a:tr>
              <a:tr h="1056331">
                <a:tc>
                  <a:txBody>
                    <a:bodyPr/>
                    <a:lstStyle/>
                    <a:p>
                      <a:pPr algn="ctr"/>
                      <a:r>
                        <a:rPr lang="en-US" sz="3000" smtClean="0">
                          <a:solidFill>
                            <a:schemeClr val="bg1"/>
                          </a:solidFill>
                          <a:latin typeface="Times New Roman" panose="02020603050405020304" pitchFamily="18" charset="0"/>
                          <a:cs typeface="Times New Roman" panose="02020603050405020304" pitchFamily="18" charset="0"/>
                        </a:rPr>
                        <a:t>2001215888</a:t>
                      </a:r>
                      <a:endParaRPr lang="en-US" sz="3000" dirty="0">
                        <a:solidFill>
                          <a:schemeClr val="bg1"/>
                        </a:solidFill>
                        <a:latin typeface="Times New Roman" panose="02020603050405020304" pitchFamily="18" charset="0"/>
                        <a:cs typeface="Times New Roman" panose="02020603050405020304" pitchFamily="18" charset="0"/>
                      </a:endParaRPr>
                    </a:p>
                  </a:txBody>
                  <a:tcPr marL="154618" marR="154618" marT="77309" marB="77309"/>
                </a:tc>
                <a:tc>
                  <a:txBody>
                    <a:bodyPr/>
                    <a:lstStyle/>
                    <a:p>
                      <a:pPr algn="ctr"/>
                      <a:r>
                        <a:rPr lang="en-US" sz="3000" smtClean="0">
                          <a:solidFill>
                            <a:schemeClr val="bg1"/>
                          </a:solidFill>
                          <a:latin typeface="Times New Roman" panose="02020603050405020304" pitchFamily="18" charset="0"/>
                          <a:cs typeface="Times New Roman" panose="02020603050405020304" pitchFamily="18" charset="0"/>
                        </a:rPr>
                        <a:t>Hoàng</a:t>
                      </a:r>
                      <a:r>
                        <a:rPr lang="en-US" sz="3000" baseline="0" smtClean="0">
                          <a:solidFill>
                            <a:schemeClr val="bg1"/>
                          </a:solidFill>
                          <a:latin typeface="Times New Roman" panose="02020603050405020304" pitchFamily="18" charset="0"/>
                          <a:cs typeface="Times New Roman" panose="02020603050405020304" pitchFamily="18" charset="0"/>
                        </a:rPr>
                        <a:t> Trung Kiên</a:t>
                      </a:r>
                      <a:endParaRPr lang="en-US" sz="3000" dirty="0">
                        <a:solidFill>
                          <a:schemeClr val="bg1"/>
                        </a:solidFill>
                        <a:latin typeface="Times New Roman" panose="02020603050405020304" pitchFamily="18" charset="0"/>
                        <a:cs typeface="Times New Roman" panose="02020603050405020304" pitchFamily="18" charset="0"/>
                      </a:endParaRPr>
                    </a:p>
                  </a:txBody>
                  <a:tcPr marL="154618" marR="154618" marT="77309" marB="77309"/>
                </a:tc>
                <a:tc>
                  <a:txBody>
                    <a:bodyPr/>
                    <a:lstStyle/>
                    <a:p>
                      <a:pPr algn="l"/>
                      <a:r>
                        <a:rPr lang="en-US" sz="3000" smtClean="0">
                          <a:solidFill>
                            <a:schemeClr val="bg1"/>
                          </a:solidFill>
                          <a:latin typeface="Times New Roman" panose="02020603050405020304" pitchFamily="18" charset="0"/>
                          <a:cs typeface="Times New Roman" panose="02020603050405020304" pitchFamily="18" charset="0"/>
                        </a:rPr>
                        <a:t>Viết</a:t>
                      </a:r>
                      <a:r>
                        <a:rPr lang="en-US" sz="3000" baseline="0" smtClean="0">
                          <a:solidFill>
                            <a:schemeClr val="bg1"/>
                          </a:solidFill>
                          <a:latin typeface="Times New Roman" panose="02020603050405020304" pitchFamily="18" charset="0"/>
                          <a:cs typeface="Times New Roman" panose="02020603050405020304" pitchFamily="18" charset="0"/>
                        </a:rPr>
                        <a:t> code và làm word</a:t>
                      </a:r>
                      <a:endParaRPr lang="en-US" sz="3000" dirty="0">
                        <a:solidFill>
                          <a:schemeClr val="bg1"/>
                        </a:solidFill>
                        <a:latin typeface="Times New Roman" panose="02020603050405020304" pitchFamily="18" charset="0"/>
                        <a:cs typeface="Times New Roman" panose="02020603050405020304" pitchFamily="18" charset="0"/>
                      </a:endParaRPr>
                    </a:p>
                  </a:txBody>
                  <a:tcPr marL="154618" marR="154618" marT="77309" marB="7730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3000" dirty="0" smtClean="0">
                          <a:solidFill>
                            <a:schemeClr val="bg1"/>
                          </a:solidFill>
                          <a:latin typeface="Times New Roman" panose="02020603050405020304" pitchFamily="18" charset="0"/>
                          <a:cs typeface="Times New Roman" panose="02020603050405020304" pitchFamily="18" charset="0"/>
                        </a:rPr>
                        <a:t>100%</a:t>
                      </a:r>
                    </a:p>
                    <a:p>
                      <a:pPr algn="ctr"/>
                      <a:endParaRPr lang="en-US" sz="3000" dirty="0">
                        <a:solidFill>
                          <a:schemeClr val="bg1"/>
                        </a:solidFill>
                        <a:latin typeface="Times New Roman" panose="02020603050405020304" pitchFamily="18" charset="0"/>
                        <a:cs typeface="Times New Roman" panose="02020603050405020304" pitchFamily="18" charset="0"/>
                      </a:endParaRPr>
                    </a:p>
                  </a:txBody>
                  <a:tcPr marL="154618" marR="154618" marT="77309" marB="77309"/>
                </a:tc>
                <a:extLst>
                  <a:ext uri="{0D108BD9-81ED-4DB2-BD59-A6C34878D82A}">
                    <a16:rowId xmlns:a16="http://schemas.microsoft.com/office/drawing/2014/main" val="1500137394"/>
                  </a:ext>
                </a:extLst>
              </a:tr>
              <a:tr h="1508105">
                <a:tc>
                  <a:txBody>
                    <a:bodyPr/>
                    <a:lstStyle/>
                    <a:p>
                      <a:pPr algn="ctr"/>
                      <a:r>
                        <a:rPr lang="en-US" sz="3000" smtClean="0">
                          <a:solidFill>
                            <a:schemeClr val="bg1"/>
                          </a:solidFill>
                          <a:latin typeface="Times New Roman" panose="02020603050405020304" pitchFamily="18" charset="0"/>
                          <a:cs typeface="Times New Roman" panose="02020603050405020304" pitchFamily="18" charset="0"/>
                        </a:rPr>
                        <a:t>2001216051</a:t>
                      </a:r>
                      <a:endParaRPr lang="en-US" sz="3000" dirty="0">
                        <a:solidFill>
                          <a:schemeClr val="bg1"/>
                        </a:solidFill>
                        <a:latin typeface="Times New Roman" panose="02020603050405020304" pitchFamily="18" charset="0"/>
                        <a:cs typeface="Times New Roman" panose="02020603050405020304" pitchFamily="18" charset="0"/>
                      </a:endParaRPr>
                    </a:p>
                  </a:txBody>
                  <a:tcPr marL="154618" marR="154618" marT="77309" marB="77309"/>
                </a:tc>
                <a:tc>
                  <a:txBody>
                    <a:bodyPr/>
                    <a:lstStyle/>
                    <a:p>
                      <a:pPr algn="ctr"/>
                      <a:r>
                        <a:rPr lang="en-US" sz="3000" smtClean="0">
                          <a:solidFill>
                            <a:schemeClr val="bg1"/>
                          </a:solidFill>
                          <a:latin typeface="Times New Roman" panose="02020603050405020304" pitchFamily="18" charset="0"/>
                          <a:cs typeface="Times New Roman" panose="02020603050405020304" pitchFamily="18" charset="0"/>
                        </a:rPr>
                        <a:t>Nguyễn</a:t>
                      </a:r>
                      <a:r>
                        <a:rPr lang="en-US" sz="3000" baseline="0">
                          <a:solidFill>
                            <a:schemeClr val="bg1"/>
                          </a:solidFill>
                          <a:latin typeface="Times New Roman" panose="02020603050405020304" pitchFamily="18" charset="0"/>
                          <a:cs typeface="Times New Roman" panose="02020603050405020304" pitchFamily="18" charset="0"/>
                        </a:rPr>
                        <a:t> </a:t>
                      </a:r>
                      <a:r>
                        <a:rPr lang="en-US" sz="3000" baseline="0" smtClean="0">
                          <a:solidFill>
                            <a:schemeClr val="bg1"/>
                          </a:solidFill>
                          <a:latin typeface="Times New Roman" panose="02020603050405020304" pitchFamily="18" charset="0"/>
                          <a:cs typeface="Times New Roman" panose="02020603050405020304" pitchFamily="18" charset="0"/>
                        </a:rPr>
                        <a:t>Hoàng Phúc</a:t>
                      </a:r>
                      <a:endParaRPr lang="en-US" sz="3000" dirty="0">
                        <a:solidFill>
                          <a:schemeClr val="bg1"/>
                        </a:solidFill>
                        <a:latin typeface="Times New Roman" panose="02020603050405020304" pitchFamily="18" charset="0"/>
                        <a:cs typeface="Times New Roman" panose="02020603050405020304" pitchFamily="18" charset="0"/>
                      </a:endParaRPr>
                    </a:p>
                  </a:txBody>
                  <a:tcPr marL="154618" marR="154618" marT="77309" marB="7730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3000" smtClean="0">
                          <a:solidFill>
                            <a:schemeClr val="bg1"/>
                          </a:solidFill>
                          <a:latin typeface="Times New Roman" panose="02020603050405020304" pitchFamily="18" charset="0"/>
                          <a:cs typeface="Times New Roman" panose="02020603050405020304" pitchFamily="18" charset="0"/>
                        </a:rPr>
                        <a:t>Viết</a:t>
                      </a:r>
                      <a:r>
                        <a:rPr lang="en-US" sz="3000" baseline="0" smtClean="0">
                          <a:solidFill>
                            <a:schemeClr val="bg1"/>
                          </a:solidFill>
                          <a:latin typeface="Times New Roman" panose="02020603050405020304" pitchFamily="18" charset="0"/>
                          <a:cs typeface="Times New Roman" panose="02020603050405020304" pitchFamily="18" charset="0"/>
                        </a:rPr>
                        <a:t> code và làm word</a:t>
                      </a:r>
                      <a:endParaRPr lang="en-US" sz="3000" smtClean="0">
                        <a:solidFill>
                          <a:schemeClr val="bg1"/>
                        </a:solidFill>
                        <a:latin typeface="Times New Roman" panose="02020603050405020304" pitchFamily="18" charset="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3000" dirty="0">
                        <a:solidFill>
                          <a:schemeClr val="bg1"/>
                        </a:solidFill>
                        <a:latin typeface="Times New Roman" panose="02020603050405020304" pitchFamily="18" charset="0"/>
                        <a:cs typeface="Times New Roman" panose="02020603050405020304" pitchFamily="18" charset="0"/>
                      </a:endParaRPr>
                    </a:p>
                  </a:txBody>
                  <a:tcPr marL="154618" marR="154618" marT="77309" marB="77309"/>
                </a:tc>
                <a:tc>
                  <a:txBody>
                    <a:bodyPr/>
                    <a:lstStyle/>
                    <a:p>
                      <a:pPr algn="ctr"/>
                      <a:r>
                        <a:rPr lang="en-US" sz="3000" dirty="0" smtClean="0">
                          <a:solidFill>
                            <a:schemeClr val="bg1"/>
                          </a:solidFill>
                          <a:latin typeface="Times New Roman" panose="02020603050405020304" pitchFamily="18" charset="0"/>
                          <a:cs typeface="Times New Roman" panose="02020603050405020304" pitchFamily="18" charset="0"/>
                        </a:rPr>
                        <a:t>100%</a:t>
                      </a:r>
                      <a:endParaRPr lang="en-US" sz="3000" dirty="0">
                        <a:solidFill>
                          <a:schemeClr val="bg1"/>
                        </a:solidFill>
                        <a:latin typeface="Times New Roman" panose="02020603050405020304" pitchFamily="18" charset="0"/>
                        <a:cs typeface="Times New Roman" panose="02020603050405020304" pitchFamily="18" charset="0"/>
                      </a:endParaRPr>
                    </a:p>
                  </a:txBody>
                  <a:tcPr marL="154618" marR="154618" marT="77309" marB="77309"/>
                </a:tc>
                <a:extLst>
                  <a:ext uri="{0D108BD9-81ED-4DB2-BD59-A6C34878D82A}">
                    <a16:rowId xmlns:a16="http://schemas.microsoft.com/office/drawing/2014/main" val="3310308877"/>
                  </a:ext>
                </a:extLst>
              </a:tr>
              <a:tr h="1056331">
                <a:tc>
                  <a:txBody>
                    <a:bodyPr/>
                    <a:lstStyle/>
                    <a:p>
                      <a:pPr algn="ctr"/>
                      <a:r>
                        <a:rPr lang="en-US" sz="3000" smtClean="0">
                          <a:solidFill>
                            <a:schemeClr val="bg1"/>
                          </a:solidFill>
                          <a:latin typeface="Times New Roman" panose="02020603050405020304" pitchFamily="18" charset="0"/>
                          <a:cs typeface="Times New Roman" panose="02020603050405020304" pitchFamily="18" charset="0"/>
                        </a:rPr>
                        <a:t>2001216196</a:t>
                      </a:r>
                      <a:endParaRPr lang="en-US" sz="3000" dirty="0">
                        <a:solidFill>
                          <a:schemeClr val="bg1"/>
                        </a:solidFill>
                        <a:latin typeface="Times New Roman" panose="02020603050405020304" pitchFamily="18" charset="0"/>
                        <a:cs typeface="Times New Roman" panose="02020603050405020304" pitchFamily="18" charset="0"/>
                      </a:endParaRPr>
                    </a:p>
                  </a:txBody>
                  <a:tcPr marL="154618" marR="154618" marT="77309" marB="77309"/>
                </a:tc>
                <a:tc>
                  <a:txBody>
                    <a:bodyPr/>
                    <a:lstStyle/>
                    <a:p>
                      <a:pPr algn="ctr"/>
                      <a:r>
                        <a:rPr lang="en-US" sz="3000" smtClean="0">
                          <a:solidFill>
                            <a:schemeClr val="bg1"/>
                          </a:solidFill>
                          <a:latin typeface="Times New Roman" panose="02020603050405020304" pitchFamily="18" charset="0"/>
                          <a:cs typeface="Times New Roman" panose="02020603050405020304" pitchFamily="18" charset="0"/>
                        </a:rPr>
                        <a:t>Phạm</a:t>
                      </a:r>
                      <a:r>
                        <a:rPr lang="en-US" sz="3000" baseline="0" smtClean="0">
                          <a:solidFill>
                            <a:schemeClr val="bg1"/>
                          </a:solidFill>
                          <a:latin typeface="Times New Roman" panose="02020603050405020304" pitchFamily="18" charset="0"/>
                          <a:cs typeface="Times New Roman" panose="02020603050405020304" pitchFamily="18" charset="0"/>
                        </a:rPr>
                        <a:t> Thị Thanh Thúy</a:t>
                      </a:r>
                      <a:endParaRPr lang="en-US" sz="3000" dirty="0">
                        <a:solidFill>
                          <a:schemeClr val="bg1"/>
                        </a:solidFill>
                        <a:latin typeface="Times New Roman" panose="02020603050405020304" pitchFamily="18" charset="0"/>
                        <a:cs typeface="Times New Roman" panose="02020603050405020304" pitchFamily="18" charset="0"/>
                      </a:endParaRPr>
                    </a:p>
                  </a:txBody>
                  <a:tcPr marL="154618" marR="154618" marT="77309" marB="7730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3000" smtClean="0">
                          <a:solidFill>
                            <a:schemeClr val="bg1"/>
                          </a:solidFill>
                          <a:latin typeface="Times New Roman" panose="02020603050405020304" pitchFamily="18" charset="0"/>
                          <a:cs typeface="Times New Roman" panose="02020603050405020304" pitchFamily="18" charset="0"/>
                        </a:rPr>
                        <a:t>Viết</a:t>
                      </a:r>
                      <a:r>
                        <a:rPr lang="en-US" sz="3000" baseline="0" smtClean="0">
                          <a:solidFill>
                            <a:schemeClr val="bg1"/>
                          </a:solidFill>
                          <a:latin typeface="Times New Roman" panose="02020603050405020304" pitchFamily="18" charset="0"/>
                          <a:cs typeface="Times New Roman" panose="02020603050405020304" pitchFamily="18" charset="0"/>
                        </a:rPr>
                        <a:t> code và làm word</a:t>
                      </a:r>
                      <a:endParaRPr lang="en-US" sz="3000" smtClean="0">
                        <a:solidFill>
                          <a:schemeClr val="bg1"/>
                        </a:solidFill>
                        <a:latin typeface="Times New Roman" panose="02020603050405020304" pitchFamily="18" charset="0"/>
                        <a:cs typeface="Times New Roman" panose="02020603050405020304" pitchFamily="18" charset="0"/>
                      </a:endParaRPr>
                    </a:p>
                    <a:p>
                      <a:pPr algn="l"/>
                      <a:endParaRPr lang="en-US" sz="3000" dirty="0">
                        <a:solidFill>
                          <a:schemeClr val="bg1"/>
                        </a:solidFill>
                        <a:latin typeface="Times New Roman" panose="02020603050405020304" pitchFamily="18" charset="0"/>
                        <a:cs typeface="Times New Roman" panose="02020603050405020304" pitchFamily="18" charset="0"/>
                      </a:endParaRPr>
                    </a:p>
                  </a:txBody>
                  <a:tcPr marL="154618" marR="154618" marT="77309" marB="7730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3000" dirty="0" smtClean="0">
                          <a:solidFill>
                            <a:schemeClr val="bg1"/>
                          </a:solidFill>
                          <a:latin typeface="Times New Roman" panose="02020603050405020304" pitchFamily="18" charset="0"/>
                          <a:cs typeface="Times New Roman" panose="02020603050405020304" pitchFamily="18" charset="0"/>
                        </a:rPr>
                        <a:t>100%</a:t>
                      </a:r>
                    </a:p>
                    <a:p>
                      <a:pPr algn="ctr"/>
                      <a:endParaRPr lang="en-US" sz="3000" dirty="0">
                        <a:solidFill>
                          <a:schemeClr val="bg1"/>
                        </a:solidFill>
                        <a:latin typeface="Times New Roman" panose="02020603050405020304" pitchFamily="18" charset="0"/>
                        <a:cs typeface="Times New Roman" panose="02020603050405020304" pitchFamily="18" charset="0"/>
                      </a:endParaRPr>
                    </a:p>
                  </a:txBody>
                  <a:tcPr marL="154618" marR="154618" marT="77309" marB="77309"/>
                </a:tc>
                <a:extLst>
                  <a:ext uri="{0D108BD9-81ED-4DB2-BD59-A6C34878D82A}">
                    <a16:rowId xmlns:a16="http://schemas.microsoft.com/office/drawing/2014/main" val="3522196166"/>
                  </a:ext>
                </a:extLst>
              </a:tr>
              <a:tr h="1056331">
                <a:tc>
                  <a:txBody>
                    <a:bodyPr/>
                    <a:lstStyle/>
                    <a:p>
                      <a:pPr algn="ctr"/>
                      <a:r>
                        <a:rPr lang="en-US" sz="3000" smtClean="0">
                          <a:solidFill>
                            <a:schemeClr val="bg1"/>
                          </a:solidFill>
                          <a:latin typeface="Times New Roman" panose="02020603050405020304" pitchFamily="18" charset="0"/>
                          <a:cs typeface="Times New Roman" panose="02020603050405020304" pitchFamily="18" charset="0"/>
                        </a:rPr>
                        <a:t>2001216195</a:t>
                      </a:r>
                      <a:endParaRPr lang="en-US" sz="3000" dirty="0">
                        <a:solidFill>
                          <a:schemeClr val="bg1"/>
                        </a:solidFill>
                        <a:latin typeface="Times New Roman" panose="02020603050405020304" pitchFamily="18" charset="0"/>
                        <a:cs typeface="Times New Roman" panose="02020603050405020304" pitchFamily="18" charset="0"/>
                      </a:endParaRPr>
                    </a:p>
                  </a:txBody>
                  <a:tcPr marL="154618" marR="154618" marT="77309" marB="77309"/>
                </a:tc>
                <a:tc>
                  <a:txBody>
                    <a:bodyPr/>
                    <a:lstStyle/>
                    <a:p>
                      <a:pPr algn="ctr"/>
                      <a:r>
                        <a:rPr lang="en-US" sz="3000" smtClean="0">
                          <a:solidFill>
                            <a:schemeClr val="bg1"/>
                          </a:solidFill>
                          <a:latin typeface="Times New Roman" panose="02020603050405020304" pitchFamily="18" charset="0"/>
                          <a:cs typeface="Times New Roman" panose="02020603050405020304" pitchFamily="18" charset="0"/>
                        </a:rPr>
                        <a:t>Phạm</a:t>
                      </a:r>
                      <a:r>
                        <a:rPr lang="en-US" sz="3000" baseline="0" smtClean="0">
                          <a:solidFill>
                            <a:schemeClr val="bg1"/>
                          </a:solidFill>
                          <a:latin typeface="Times New Roman" panose="02020603050405020304" pitchFamily="18" charset="0"/>
                          <a:cs typeface="Times New Roman" panose="02020603050405020304" pitchFamily="18" charset="0"/>
                        </a:rPr>
                        <a:t> Thị Thanh Thủy</a:t>
                      </a:r>
                      <a:endParaRPr lang="en-US" sz="3000" dirty="0">
                        <a:solidFill>
                          <a:schemeClr val="bg1"/>
                        </a:solidFill>
                        <a:latin typeface="Times New Roman" panose="02020603050405020304" pitchFamily="18" charset="0"/>
                        <a:cs typeface="Times New Roman" panose="02020603050405020304" pitchFamily="18" charset="0"/>
                      </a:endParaRPr>
                    </a:p>
                  </a:txBody>
                  <a:tcPr marL="154618" marR="154618" marT="77309" marB="7730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3000" smtClean="0">
                          <a:solidFill>
                            <a:schemeClr val="bg1"/>
                          </a:solidFill>
                          <a:latin typeface="Times New Roman" panose="02020603050405020304" pitchFamily="18" charset="0"/>
                          <a:cs typeface="Times New Roman" panose="02020603050405020304" pitchFamily="18" charset="0"/>
                        </a:rPr>
                        <a:t>Viết</a:t>
                      </a:r>
                      <a:r>
                        <a:rPr lang="en-US" sz="3000" baseline="0" smtClean="0">
                          <a:solidFill>
                            <a:schemeClr val="bg1"/>
                          </a:solidFill>
                          <a:latin typeface="Times New Roman" panose="02020603050405020304" pitchFamily="18" charset="0"/>
                          <a:cs typeface="Times New Roman" panose="02020603050405020304" pitchFamily="18" charset="0"/>
                        </a:rPr>
                        <a:t> code và làm word</a:t>
                      </a:r>
                      <a:endParaRPr lang="en-US" sz="3000" smtClean="0">
                        <a:solidFill>
                          <a:schemeClr val="bg1"/>
                        </a:solidFill>
                        <a:latin typeface="Times New Roman" panose="02020603050405020304" pitchFamily="18" charset="0"/>
                        <a:cs typeface="Times New Roman" panose="02020603050405020304" pitchFamily="18" charset="0"/>
                      </a:endParaRPr>
                    </a:p>
                    <a:p>
                      <a:pPr algn="l"/>
                      <a:endParaRPr lang="en-US" sz="3000" dirty="0">
                        <a:solidFill>
                          <a:schemeClr val="bg1"/>
                        </a:solidFill>
                        <a:latin typeface="Times New Roman" panose="02020603050405020304" pitchFamily="18" charset="0"/>
                        <a:cs typeface="Times New Roman" panose="02020603050405020304" pitchFamily="18" charset="0"/>
                      </a:endParaRPr>
                    </a:p>
                  </a:txBody>
                  <a:tcPr marL="154618" marR="154618" marT="77309" marB="7730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3000" dirty="0" smtClean="0">
                          <a:solidFill>
                            <a:schemeClr val="bg1"/>
                          </a:solidFill>
                          <a:latin typeface="Times New Roman" panose="02020603050405020304" pitchFamily="18" charset="0"/>
                          <a:cs typeface="Times New Roman" panose="02020603050405020304" pitchFamily="18" charset="0"/>
                        </a:rPr>
                        <a:t>100%</a:t>
                      </a:r>
                    </a:p>
                    <a:p>
                      <a:pPr algn="ctr"/>
                      <a:endParaRPr lang="en-US" sz="3000" dirty="0">
                        <a:solidFill>
                          <a:schemeClr val="bg1"/>
                        </a:solidFill>
                        <a:latin typeface="Times New Roman" panose="02020603050405020304" pitchFamily="18" charset="0"/>
                        <a:cs typeface="Times New Roman" panose="02020603050405020304" pitchFamily="18" charset="0"/>
                      </a:endParaRPr>
                    </a:p>
                  </a:txBody>
                  <a:tcPr marL="154618" marR="154618" marT="77309" marB="77309"/>
                </a:tc>
                <a:extLst>
                  <a:ext uri="{0D108BD9-81ED-4DB2-BD59-A6C34878D82A}">
                    <a16:rowId xmlns:a16="http://schemas.microsoft.com/office/drawing/2014/main" val="1446759758"/>
                  </a:ext>
                </a:extLst>
              </a:tr>
            </a:tbl>
          </a:graphicData>
        </a:graphic>
      </p:graphicFrame>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ircle(i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67000" y="2019300"/>
            <a:ext cx="12954000" cy="5194435"/>
          </a:xfrm>
          <a:prstGeom prst="rect">
            <a:avLst/>
          </a:prstGeom>
        </p:spPr>
        <p:txBody>
          <a:bodyPr wrap="square">
            <a:spAutoFit/>
          </a:bodyPr>
          <a:lstStyle/>
          <a:p>
            <a:pPr>
              <a:lnSpc>
                <a:spcPct val="107000"/>
              </a:lnSpc>
              <a:spcBef>
                <a:spcPts val="200"/>
              </a:spcBef>
              <a:spcAft>
                <a:spcPts val="0"/>
              </a:spcAft>
            </a:pPr>
            <a:r>
              <a:rPr lang="en-US" sz="4800" b="1" kern="100" smtClean="0">
                <a:solidFill>
                  <a:schemeClr val="tx2">
                    <a:lumMod val="60000"/>
                    <a:lumOff val="40000"/>
                  </a:schemeClr>
                </a:solidFill>
                <a:latin typeface="Times New Roman" panose="02020603050405020304" pitchFamily="18" charset="0"/>
                <a:ea typeface="Times New Roman" panose="02020603050405020304" pitchFamily="18" charset="0"/>
                <a:cs typeface="Times New Roman" panose="02020603050405020304" pitchFamily="18" charset="0"/>
              </a:rPr>
              <a:t>Yêu cầu:</a:t>
            </a:r>
          </a:p>
          <a:p>
            <a:pPr algn="just"/>
            <a:r>
              <a:rPr lang="en-US" sz="4000">
                <a:latin typeface="Times New Roman" panose="02020603050405020304" pitchFamily="18" charset="0"/>
                <a:cs typeface="Times New Roman" panose="02020603050405020304" pitchFamily="18" charset="0"/>
              </a:rPr>
              <a:t>Xây dựng ứng dụng quản lý bán hàng tại </a:t>
            </a:r>
            <a:r>
              <a:rPr lang="en-US" sz="4000" smtClean="0">
                <a:latin typeface="Times New Roman" panose="02020603050405020304" pitchFamily="18" charset="0"/>
                <a:cs typeface="Times New Roman" panose="02020603050405020304" pitchFamily="18" charset="0"/>
              </a:rPr>
              <a:t>cửa </a:t>
            </a:r>
            <a:r>
              <a:rPr lang="en-US" sz="4000">
                <a:latin typeface="Times New Roman" panose="02020603050405020304" pitchFamily="18" charset="0"/>
                <a:cs typeface="Times New Roman" panose="02020603050405020304" pitchFamily="18" charset="0"/>
              </a:rPr>
              <a:t>hàng văn phòng phẩm</a:t>
            </a:r>
          </a:p>
          <a:p>
            <a:pPr algn="just"/>
            <a:r>
              <a:rPr lang="en-US" sz="4000">
                <a:latin typeface="Times New Roman" panose="02020603050405020304" pitchFamily="18" charset="0"/>
                <a:cs typeface="Times New Roman" panose="02020603050405020304" pitchFamily="18" charset="0"/>
              </a:rPr>
              <a:t>- Thiết kế CSDL</a:t>
            </a:r>
          </a:p>
          <a:p>
            <a:pPr algn="just"/>
            <a:r>
              <a:rPr lang="en-US" sz="4000">
                <a:latin typeface="Times New Roman" panose="02020603050405020304" pitchFamily="18" charset="0"/>
                <a:cs typeface="Times New Roman" panose="02020603050405020304" pitchFamily="18" charset="0"/>
              </a:rPr>
              <a:t>- Xây dựng các màn hình :</a:t>
            </a:r>
          </a:p>
          <a:p>
            <a:pPr algn="just"/>
            <a:r>
              <a:rPr lang="en-US" sz="4000">
                <a:latin typeface="Times New Roman" panose="02020603050405020304" pitchFamily="18" charset="0"/>
                <a:cs typeface="Times New Roman" panose="02020603050405020304" pitchFamily="18" charset="0"/>
              </a:rPr>
              <a:t>+Quản lý văn phòng phẩm (Thêm, Xóa, Sửa, tìm kiếm)</a:t>
            </a:r>
          </a:p>
          <a:p>
            <a:pPr algn="just"/>
            <a:r>
              <a:rPr lang="en-US" sz="4000">
                <a:latin typeface="Times New Roman" panose="02020603050405020304" pitchFamily="18" charset="0"/>
                <a:cs typeface="Times New Roman" panose="02020603050405020304" pitchFamily="18" charset="0"/>
              </a:rPr>
              <a:t>+ Quản lý đặt hàng, bán hàng</a:t>
            </a:r>
          </a:p>
          <a:p>
            <a:pPr>
              <a:lnSpc>
                <a:spcPct val="107000"/>
              </a:lnSpc>
              <a:spcBef>
                <a:spcPts val="200"/>
              </a:spcBef>
              <a:spcAft>
                <a:spcPts val="0"/>
              </a:spcAft>
            </a:pPr>
            <a:endParaRPr lang="en-US" sz="3600" b="1" kern="10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86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
        <p:cNvGrpSpPr/>
        <p:nvPr/>
      </p:nvGrpSpPr>
      <p:grpSpPr>
        <a:xfrm>
          <a:off x="0" y="0"/>
          <a:ext cx="0" cy="0"/>
          <a:chOff x="0" y="0"/>
          <a:chExt cx="0" cy="0"/>
        </a:xfrm>
      </p:grpSpPr>
      <p:sp>
        <p:nvSpPr>
          <p:cNvPr id="2" name="TextBox 2"/>
          <p:cNvSpPr txBox="1"/>
          <p:nvPr/>
        </p:nvSpPr>
        <p:spPr>
          <a:xfrm>
            <a:off x="1028700" y="1009650"/>
            <a:ext cx="9348011" cy="985266"/>
          </a:xfrm>
          <a:prstGeom prst="rect">
            <a:avLst/>
          </a:prstGeom>
        </p:spPr>
        <p:txBody>
          <a:bodyPr lIns="0" tIns="0" rIns="0" bIns="0" rtlCol="0" anchor="t">
            <a:spAutoFit/>
          </a:bodyPr>
          <a:lstStyle/>
          <a:p>
            <a:pPr>
              <a:lnSpc>
                <a:spcPts val="7872"/>
              </a:lnSpc>
              <a:spcBef>
                <a:spcPct val="0"/>
              </a:spcBef>
            </a:pPr>
            <a:r>
              <a:rPr lang="en-US" sz="6400" b="1" dirty="0">
                <a:solidFill>
                  <a:srgbClr val="000000"/>
                </a:solidFill>
                <a:latin typeface="Times New Roman" panose="02020603050405020304" pitchFamily="18" charset="0"/>
                <a:cs typeface="Times New Roman" panose="02020603050405020304" pitchFamily="18" charset="0"/>
              </a:rPr>
              <a:t>NỘI DUNG TRÌNH BÀY</a:t>
            </a:r>
          </a:p>
        </p:txBody>
      </p:sp>
      <p:sp>
        <p:nvSpPr>
          <p:cNvPr id="3" name="TextBox 3"/>
          <p:cNvSpPr txBox="1"/>
          <p:nvPr/>
        </p:nvSpPr>
        <p:spPr>
          <a:xfrm>
            <a:off x="356083" y="4856480"/>
            <a:ext cx="4395225" cy="525785"/>
          </a:xfrm>
          <a:prstGeom prst="rect">
            <a:avLst/>
          </a:prstGeom>
        </p:spPr>
        <p:txBody>
          <a:bodyPr lIns="0" tIns="0" rIns="0" bIns="0" rtlCol="0" anchor="t">
            <a:spAutoFit/>
          </a:bodyPr>
          <a:lstStyle/>
          <a:p>
            <a:pPr marL="0" lvl="0" indent="0">
              <a:lnSpc>
                <a:spcPts val="4059"/>
              </a:lnSpc>
            </a:pPr>
            <a:r>
              <a:rPr lang="en-US" sz="3500" spc="37" dirty="0" err="1">
                <a:solidFill>
                  <a:srgbClr val="000000"/>
                </a:solidFill>
                <a:latin typeface="Times New Roman" panose="02020603050405020304" pitchFamily="18" charset="0"/>
                <a:cs typeface="Times New Roman" panose="02020603050405020304" pitchFamily="18" charset="0"/>
              </a:rPr>
              <a:t>Giới</a:t>
            </a:r>
            <a:r>
              <a:rPr lang="en-US" sz="3500" spc="37" dirty="0">
                <a:solidFill>
                  <a:srgbClr val="000000"/>
                </a:solidFill>
                <a:latin typeface="Times New Roman" panose="02020603050405020304" pitchFamily="18" charset="0"/>
                <a:cs typeface="Times New Roman" panose="02020603050405020304" pitchFamily="18" charset="0"/>
              </a:rPr>
              <a:t> </a:t>
            </a:r>
            <a:r>
              <a:rPr lang="en-US" sz="3500" spc="37" dirty="0" err="1">
                <a:solidFill>
                  <a:srgbClr val="000000"/>
                </a:solidFill>
                <a:latin typeface="Times New Roman" panose="02020603050405020304" pitchFamily="18" charset="0"/>
                <a:cs typeface="Times New Roman" panose="02020603050405020304" pitchFamily="18" charset="0"/>
              </a:rPr>
              <a:t>thiệu</a:t>
            </a:r>
            <a:r>
              <a:rPr lang="en-US" sz="3500" spc="37" dirty="0">
                <a:solidFill>
                  <a:srgbClr val="000000"/>
                </a:solidFill>
                <a:latin typeface="Times New Roman" panose="02020603050405020304" pitchFamily="18" charset="0"/>
                <a:cs typeface="Times New Roman" panose="02020603050405020304" pitchFamily="18" charset="0"/>
              </a:rPr>
              <a:t> </a:t>
            </a:r>
            <a:r>
              <a:rPr lang="en-US" sz="3500" spc="37" dirty="0" err="1">
                <a:solidFill>
                  <a:srgbClr val="000000"/>
                </a:solidFill>
                <a:latin typeface="Times New Roman" panose="02020603050405020304" pitchFamily="18" charset="0"/>
                <a:cs typeface="Times New Roman" panose="02020603050405020304" pitchFamily="18" charset="0"/>
              </a:rPr>
              <a:t>đề</a:t>
            </a:r>
            <a:r>
              <a:rPr lang="en-US" sz="3500" spc="37" dirty="0">
                <a:solidFill>
                  <a:srgbClr val="000000"/>
                </a:solidFill>
                <a:latin typeface="Times New Roman" panose="02020603050405020304" pitchFamily="18" charset="0"/>
                <a:cs typeface="Times New Roman" panose="02020603050405020304" pitchFamily="18" charset="0"/>
              </a:rPr>
              <a:t> </a:t>
            </a:r>
            <a:r>
              <a:rPr lang="en-US" sz="3500" spc="37" dirty="0" err="1">
                <a:solidFill>
                  <a:srgbClr val="000000"/>
                </a:solidFill>
                <a:latin typeface="Times New Roman" panose="02020603050405020304" pitchFamily="18" charset="0"/>
                <a:cs typeface="Times New Roman" panose="02020603050405020304" pitchFamily="18" charset="0"/>
              </a:rPr>
              <a:t>tài</a:t>
            </a:r>
            <a:endParaRPr lang="en-US" sz="3500" spc="37" dirty="0">
              <a:solidFill>
                <a:srgbClr val="000000"/>
              </a:solidFill>
              <a:latin typeface="Times New Roman" panose="02020603050405020304" pitchFamily="18" charset="0"/>
              <a:cs typeface="Times New Roman" panose="02020603050405020304" pitchFamily="18" charset="0"/>
            </a:endParaRPr>
          </a:p>
        </p:txBody>
      </p:sp>
      <p:sp>
        <p:nvSpPr>
          <p:cNvPr id="4" name="Freeform 4"/>
          <p:cNvSpPr/>
          <p:nvPr/>
        </p:nvSpPr>
        <p:spPr>
          <a:xfrm>
            <a:off x="11571341" y="540437"/>
            <a:ext cx="5687959" cy="4603063"/>
          </a:xfrm>
          <a:custGeom>
            <a:avLst/>
            <a:gdLst/>
            <a:ahLst/>
            <a:cxnLst/>
            <a:rect l="l" t="t" r="r" b="b"/>
            <a:pathLst>
              <a:path w="5687959" h="4603063">
                <a:moveTo>
                  <a:pt x="0" y="0"/>
                </a:moveTo>
                <a:lnTo>
                  <a:pt x="5687959" y="0"/>
                </a:lnTo>
                <a:lnTo>
                  <a:pt x="5687959" y="4603063"/>
                </a:lnTo>
                <a:lnTo>
                  <a:pt x="0" y="4603063"/>
                </a:lnTo>
                <a:lnTo>
                  <a:pt x="0" y="0"/>
                </a:lnTo>
                <a:close/>
              </a:path>
            </a:pathLst>
          </a:custGeom>
          <a:blipFill>
            <a:blip r:embed="rId2"/>
            <a:stretch>
              <a:fillRect/>
            </a:stretch>
          </a:blipFill>
        </p:spPr>
      </p:sp>
      <p:sp>
        <p:nvSpPr>
          <p:cNvPr id="5" name="TextBox 5"/>
          <p:cNvSpPr txBox="1"/>
          <p:nvPr/>
        </p:nvSpPr>
        <p:spPr>
          <a:xfrm>
            <a:off x="759618" y="2937219"/>
            <a:ext cx="1794078" cy="1422400"/>
          </a:xfrm>
          <a:prstGeom prst="rect">
            <a:avLst/>
          </a:prstGeom>
        </p:spPr>
        <p:txBody>
          <a:bodyPr lIns="0" tIns="0" rIns="0" bIns="0" rtlCol="0" anchor="t">
            <a:spAutoFit/>
          </a:bodyPr>
          <a:lstStyle/>
          <a:p>
            <a:pPr marL="0" lvl="0" indent="0" algn="ctr">
              <a:lnSpc>
                <a:spcPts val="10999"/>
              </a:lnSpc>
              <a:spcBef>
                <a:spcPct val="0"/>
              </a:spcBef>
            </a:pPr>
            <a:r>
              <a:rPr lang="en-US" sz="9999" dirty="0">
                <a:solidFill>
                  <a:srgbClr val="7E8083"/>
                </a:solidFill>
                <a:latin typeface="Clear Sans Bold"/>
              </a:rPr>
              <a:t>01</a:t>
            </a:r>
          </a:p>
        </p:txBody>
      </p:sp>
      <p:sp>
        <p:nvSpPr>
          <p:cNvPr id="6" name="TextBox 6"/>
          <p:cNvSpPr txBox="1"/>
          <p:nvPr/>
        </p:nvSpPr>
        <p:spPr>
          <a:xfrm>
            <a:off x="6573150" y="2914262"/>
            <a:ext cx="1794078" cy="1422400"/>
          </a:xfrm>
          <a:prstGeom prst="rect">
            <a:avLst/>
          </a:prstGeom>
        </p:spPr>
        <p:txBody>
          <a:bodyPr lIns="0" tIns="0" rIns="0" bIns="0" rtlCol="0" anchor="t">
            <a:spAutoFit/>
          </a:bodyPr>
          <a:lstStyle/>
          <a:p>
            <a:pPr marL="0" lvl="0" indent="0" algn="ctr">
              <a:lnSpc>
                <a:spcPts val="10999"/>
              </a:lnSpc>
              <a:spcBef>
                <a:spcPct val="0"/>
              </a:spcBef>
            </a:pPr>
            <a:r>
              <a:rPr lang="en-US" sz="9999" dirty="0">
                <a:solidFill>
                  <a:srgbClr val="7E8083"/>
                </a:solidFill>
                <a:latin typeface="Clear Sans Bold"/>
              </a:rPr>
              <a:t>02</a:t>
            </a:r>
          </a:p>
        </p:txBody>
      </p:sp>
      <p:sp>
        <p:nvSpPr>
          <p:cNvPr id="9" name="TextBox 9"/>
          <p:cNvSpPr txBox="1"/>
          <p:nvPr/>
        </p:nvSpPr>
        <p:spPr>
          <a:xfrm>
            <a:off x="4114800" y="6667500"/>
            <a:ext cx="1794078" cy="1422400"/>
          </a:xfrm>
          <a:prstGeom prst="rect">
            <a:avLst/>
          </a:prstGeom>
        </p:spPr>
        <p:txBody>
          <a:bodyPr lIns="0" tIns="0" rIns="0" bIns="0" rtlCol="0" anchor="t">
            <a:spAutoFit/>
          </a:bodyPr>
          <a:lstStyle/>
          <a:p>
            <a:pPr marL="0" lvl="0" indent="0" algn="ctr">
              <a:lnSpc>
                <a:spcPts val="10999"/>
              </a:lnSpc>
              <a:spcBef>
                <a:spcPct val="0"/>
              </a:spcBef>
            </a:pPr>
            <a:r>
              <a:rPr lang="en-US" sz="9999" dirty="0">
                <a:solidFill>
                  <a:srgbClr val="7E8083"/>
                </a:solidFill>
                <a:latin typeface="Clear Sans Bold"/>
              </a:rPr>
              <a:t>03</a:t>
            </a:r>
          </a:p>
        </p:txBody>
      </p:sp>
      <p:sp>
        <p:nvSpPr>
          <p:cNvPr id="10" name="TextBox 10"/>
          <p:cNvSpPr txBox="1"/>
          <p:nvPr/>
        </p:nvSpPr>
        <p:spPr>
          <a:xfrm>
            <a:off x="5624869" y="4856480"/>
            <a:ext cx="5687959" cy="525785"/>
          </a:xfrm>
          <a:prstGeom prst="rect">
            <a:avLst/>
          </a:prstGeom>
        </p:spPr>
        <p:txBody>
          <a:bodyPr wrap="square" lIns="0" tIns="0" rIns="0" bIns="0" rtlCol="0" anchor="t">
            <a:spAutoFit/>
          </a:bodyPr>
          <a:lstStyle/>
          <a:p>
            <a:pPr marL="0" lvl="0" indent="0">
              <a:lnSpc>
                <a:spcPts val="4059"/>
              </a:lnSpc>
            </a:pPr>
            <a:r>
              <a:rPr lang="en-US" sz="3500" spc="37" dirty="0" err="1">
                <a:solidFill>
                  <a:srgbClr val="000000"/>
                </a:solidFill>
                <a:latin typeface="Times New Roman" panose="02020603050405020304" pitchFamily="18" charset="0"/>
                <a:cs typeface="Times New Roman" panose="02020603050405020304" pitchFamily="18" charset="0"/>
              </a:rPr>
              <a:t>Phân</a:t>
            </a:r>
            <a:r>
              <a:rPr lang="en-US" sz="3500" spc="37" dirty="0">
                <a:solidFill>
                  <a:srgbClr val="000000"/>
                </a:solidFill>
                <a:latin typeface="Times New Roman" panose="02020603050405020304" pitchFamily="18" charset="0"/>
                <a:cs typeface="Times New Roman" panose="02020603050405020304" pitchFamily="18" charset="0"/>
              </a:rPr>
              <a:t> </a:t>
            </a:r>
            <a:r>
              <a:rPr lang="en-US" sz="3500" spc="37" dirty="0" err="1">
                <a:solidFill>
                  <a:srgbClr val="000000"/>
                </a:solidFill>
                <a:latin typeface="Times New Roman" panose="02020603050405020304" pitchFamily="18" charset="0"/>
                <a:cs typeface="Times New Roman" panose="02020603050405020304" pitchFamily="18" charset="0"/>
              </a:rPr>
              <a:t>tích</a:t>
            </a:r>
            <a:r>
              <a:rPr lang="en-US" sz="3500" spc="37" dirty="0">
                <a:solidFill>
                  <a:srgbClr val="000000"/>
                </a:solidFill>
                <a:latin typeface="Times New Roman" panose="02020603050405020304" pitchFamily="18" charset="0"/>
                <a:cs typeface="Times New Roman" panose="02020603050405020304" pitchFamily="18" charset="0"/>
              </a:rPr>
              <a:t> </a:t>
            </a:r>
            <a:r>
              <a:rPr lang="en-US" sz="3500" spc="37" dirty="0" err="1">
                <a:solidFill>
                  <a:srgbClr val="000000"/>
                </a:solidFill>
                <a:latin typeface="Times New Roman" panose="02020603050405020304" pitchFamily="18" charset="0"/>
                <a:cs typeface="Times New Roman" panose="02020603050405020304" pitchFamily="18" charset="0"/>
              </a:rPr>
              <a:t>thiết</a:t>
            </a:r>
            <a:r>
              <a:rPr lang="en-US" sz="3500" spc="37" dirty="0">
                <a:solidFill>
                  <a:srgbClr val="000000"/>
                </a:solidFill>
                <a:latin typeface="Times New Roman" panose="02020603050405020304" pitchFamily="18" charset="0"/>
                <a:cs typeface="Times New Roman" panose="02020603050405020304" pitchFamily="18" charset="0"/>
              </a:rPr>
              <a:t> </a:t>
            </a:r>
            <a:r>
              <a:rPr lang="en-US" sz="3500" spc="37" dirty="0" err="1" smtClean="0">
                <a:solidFill>
                  <a:srgbClr val="000000"/>
                </a:solidFill>
                <a:latin typeface="Times New Roman" panose="02020603050405020304" pitchFamily="18" charset="0"/>
                <a:cs typeface="Times New Roman" panose="02020603050405020304" pitchFamily="18" charset="0"/>
              </a:rPr>
              <a:t>kế</a:t>
            </a:r>
            <a:r>
              <a:rPr lang="en-US" sz="3500" spc="37" dirty="0" smtClean="0">
                <a:solidFill>
                  <a:srgbClr val="000000"/>
                </a:solidFill>
                <a:latin typeface="Times New Roman" panose="02020603050405020304" pitchFamily="18" charset="0"/>
                <a:cs typeface="Times New Roman" panose="02020603050405020304" pitchFamily="18" charset="0"/>
              </a:rPr>
              <a:t> </a:t>
            </a:r>
            <a:r>
              <a:rPr lang="en-US" sz="3500" spc="37" dirty="0">
                <a:solidFill>
                  <a:srgbClr val="000000"/>
                </a:solidFill>
                <a:latin typeface="Times New Roman" panose="02020603050405020304" pitchFamily="18" charset="0"/>
                <a:cs typeface="Times New Roman" panose="02020603050405020304" pitchFamily="18" charset="0"/>
              </a:rPr>
              <a:t>CSDL</a:t>
            </a:r>
          </a:p>
        </p:txBody>
      </p:sp>
      <p:sp>
        <p:nvSpPr>
          <p:cNvPr id="11" name="TextBox 11"/>
          <p:cNvSpPr txBox="1"/>
          <p:nvPr/>
        </p:nvSpPr>
        <p:spPr>
          <a:xfrm>
            <a:off x="4364139" y="8420100"/>
            <a:ext cx="1295400" cy="525785"/>
          </a:xfrm>
          <a:prstGeom prst="rect">
            <a:avLst/>
          </a:prstGeom>
        </p:spPr>
        <p:txBody>
          <a:bodyPr wrap="square" lIns="0" tIns="0" rIns="0" bIns="0" rtlCol="0" anchor="t">
            <a:spAutoFit/>
          </a:bodyPr>
          <a:lstStyle/>
          <a:p>
            <a:pPr marL="0" lvl="0" indent="0">
              <a:lnSpc>
                <a:spcPts val="4059"/>
              </a:lnSpc>
            </a:pPr>
            <a:r>
              <a:rPr lang="en-US" sz="3500" spc="37" dirty="0">
                <a:solidFill>
                  <a:srgbClr val="000000"/>
                </a:solidFill>
                <a:latin typeface="Times New Roman" panose="02020603050405020304" pitchFamily="18" charset="0"/>
                <a:cs typeface="Times New Roman" panose="02020603050405020304" pitchFamily="18" charset="0"/>
              </a:rPr>
              <a:t>Demo</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anim calcmode="lin" valueType="num">
                                      <p:cBhvr>
                                        <p:cTn id="8"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 calcmode="lin" valueType="num">
                                      <p:cBhvr additive="base">
                                        <p:cTn id="14"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5">
                                            <p:txEl>
                                              <p:pRg st="0" end="0"/>
                                            </p:txEl>
                                          </p:spTgt>
                                        </p:tgtEl>
                                        <p:attrNameLst>
                                          <p:attrName>ppt_y</p:attrName>
                                        </p:attrNameLst>
                                      </p:cBhvr>
                                      <p:tavLst>
                                        <p:tav tm="0">
                                          <p:val>
                                            <p:strVal val="1+#ppt_h/2"/>
                                          </p:val>
                                        </p:tav>
                                        <p:tav tm="100000">
                                          <p:val>
                                            <p:strVal val="#ppt_y"/>
                                          </p:val>
                                        </p:tav>
                                      </p:tavLst>
                                    </p:anim>
                                  </p:childTnLst>
                                </p:cTn>
                              </p:par>
                              <p:par>
                                <p:cTn id="16" presetID="6" presetClass="entr" presetSubtype="16" fill="hold" nodeType="with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circle(in)">
                                      <p:cBhvr>
                                        <p:cTn id="18" dur="5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Effect transition="in" filter="fade">
                                      <p:cBhvr>
                                        <p:cTn id="23" dur="500"/>
                                        <p:tgtEl>
                                          <p:spTgt spid="6">
                                            <p:txEl>
                                              <p:pRg st="0" end="0"/>
                                            </p:txEl>
                                          </p:spTgt>
                                        </p:tgtEl>
                                      </p:cBhvr>
                                    </p:animEffect>
                                    <p:anim calcmode="lin" valueType="num">
                                      <p:cBhvr>
                                        <p:cTn id="24"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5" dur="500" fill="hold"/>
                                        <p:tgtEl>
                                          <p:spTgt spid="6">
                                            <p:txEl>
                                              <p:pRg st="0" end="0"/>
                                            </p:txEl>
                                          </p:spTgt>
                                        </p:tgtEl>
                                        <p:attrNameLst>
                                          <p:attrName>ppt_y</p:attrName>
                                        </p:attrNameLst>
                                      </p:cBhvr>
                                      <p:tavLst>
                                        <p:tav tm="0">
                                          <p:val>
                                            <p:strVal val="#ppt_y+.1"/>
                                          </p:val>
                                        </p:tav>
                                        <p:tav tm="100000">
                                          <p:val>
                                            <p:strVal val="#ppt_y"/>
                                          </p:val>
                                        </p:tav>
                                      </p:tavLst>
                                    </p:anim>
                                  </p:childTnLst>
                                </p:cTn>
                              </p:par>
                              <p:par>
                                <p:cTn id="26" presetID="6" presetClass="entr" presetSubtype="16" fill="hold" nodeType="with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circle(in)">
                                      <p:cBhvr>
                                        <p:cTn id="28" dur="500"/>
                                        <p:tgtEl>
                                          <p:spTgt spid="10">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9">
                                            <p:txEl>
                                              <p:pRg st="0" end="0"/>
                                            </p:txEl>
                                          </p:spTgt>
                                        </p:tgtEl>
                                        <p:attrNameLst>
                                          <p:attrName>style.visibility</p:attrName>
                                        </p:attrNameLst>
                                      </p:cBhvr>
                                      <p:to>
                                        <p:strVal val="visible"/>
                                      </p:to>
                                    </p:set>
                                    <p:anim calcmode="lin" valueType="num">
                                      <p:cBhvr additive="base">
                                        <p:cTn id="33"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9">
                                            <p:txEl>
                                              <p:pRg st="0" end="0"/>
                                            </p:txEl>
                                          </p:spTgt>
                                        </p:tgtEl>
                                        <p:attrNameLst>
                                          <p:attrName>ppt_y</p:attrName>
                                        </p:attrNameLst>
                                      </p:cBhvr>
                                      <p:tavLst>
                                        <p:tav tm="0">
                                          <p:val>
                                            <p:strVal val="1+#ppt_h/2"/>
                                          </p:val>
                                        </p:tav>
                                        <p:tav tm="100000">
                                          <p:val>
                                            <p:strVal val="#ppt_y"/>
                                          </p:val>
                                        </p:tav>
                                      </p:tavLst>
                                    </p:anim>
                                  </p:childTnLst>
                                </p:cTn>
                              </p:par>
                              <p:par>
                                <p:cTn id="35" presetID="6" presetClass="entr" presetSubtype="16" fill="hold" nodeType="with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Effect transition="in" filter="circle(in)">
                                      <p:cBhvr>
                                        <p:cTn id="37"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E8083"/>
        </a:solidFill>
        <a:effectLst/>
      </p:bgPr>
    </p:bg>
    <p:spTree>
      <p:nvGrpSpPr>
        <p:cNvPr id="1" name=""/>
        <p:cNvGrpSpPr/>
        <p:nvPr/>
      </p:nvGrpSpPr>
      <p:grpSpPr>
        <a:xfrm>
          <a:off x="0" y="0"/>
          <a:ext cx="0" cy="0"/>
          <a:chOff x="0" y="0"/>
          <a:chExt cx="0" cy="0"/>
        </a:xfrm>
      </p:grpSpPr>
      <p:sp>
        <p:nvSpPr>
          <p:cNvPr id="2" name="Freeform 2"/>
          <p:cNvSpPr/>
          <p:nvPr/>
        </p:nvSpPr>
        <p:spPr>
          <a:xfrm rot="-5400000">
            <a:off x="-163714" y="2786924"/>
            <a:ext cx="8229600" cy="4713151"/>
          </a:xfrm>
          <a:custGeom>
            <a:avLst/>
            <a:gdLst/>
            <a:ahLst/>
            <a:cxnLst/>
            <a:rect l="l" t="t" r="r" b="b"/>
            <a:pathLst>
              <a:path w="8229600" h="4713151">
                <a:moveTo>
                  <a:pt x="0" y="0"/>
                </a:moveTo>
                <a:lnTo>
                  <a:pt x="8229600" y="0"/>
                </a:lnTo>
                <a:lnTo>
                  <a:pt x="8229600" y="4713152"/>
                </a:lnTo>
                <a:lnTo>
                  <a:pt x="0" y="4713152"/>
                </a:lnTo>
                <a:lnTo>
                  <a:pt x="0" y="0"/>
                </a:lnTo>
                <a:close/>
              </a:path>
            </a:pathLst>
          </a:custGeom>
          <a:blipFill>
            <a:blip r:embed="rId2"/>
            <a:stretch>
              <a:fillRect t="-16551"/>
            </a:stretch>
          </a:blipFill>
        </p:spPr>
      </p:sp>
      <p:sp>
        <p:nvSpPr>
          <p:cNvPr id="3" name="Freeform 3"/>
          <p:cNvSpPr/>
          <p:nvPr/>
        </p:nvSpPr>
        <p:spPr>
          <a:xfrm>
            <a:off x="3029912" y="1028700"/>
            <a:ext cx="2037234" cy="1468147"/>
          </a:xfrm>
          <a:custGeom>
            <a:avLst/>
            <a:gdLst/>
            <a:ahLst/>
            <a:cxnLst/>
            <a:rect l="l" t="t" r="r" b="b"/>
            <a:pathLst>
              <a:path w="2037234" h="1468147">
                <a:moveTo>
                  <a:pt x="0" y="0"/>
                </a:moveTo>
                <a:lnTo>
                  <a:pt x="2037234" y="0"/>
                </a:lnTo>
                <a:lnTo>
                  <a:pt x="2037234" y="1468147"/>
                </a:lnTo>
                <a:lnTo>
                  <a:pt x="0" y="1468147"/>
                </a:lnTo>
                <a:lnTo>
                  <a:pt x="0" y="0"/>
                </a:lnTo>
                <a:close/>
              </a:path>
            </a:pathLst>
          </a:custGeom>
          <a:blipFill>
            <a:blip r:embed="rId3"/>
            <a:stretch>
              <a:fillRect/>
            </a:stretch>
          </a:blipFill>
        </p:spPr>
      </p:sp>
      <p:sp>
        <p:nvSpPr>
          <p:cNvPr id="4" name="Freeform 4"/>
          <p:cNvSpPr/>
          <p:nvPr/>
        </p:nvSpPr>
        <p:spPr>
          <a:xfrm rot="7729394">
            <a:off x="1666799" y="7318193"/>
            <a:ext cx="1181415" cy="1032184"/>
          </a:xfrm>
          <a:custGeom>
            <a:avLst/>
            <a:gdLst/>
            <a:ahLst/>
            <a:cxnLst/>
            <a:rect l="l" t="t" r="r" b="b"/>
            <a:pathLst>
              <a:path w="1181415" h="1032184">
                <a:moveTo>
                  <a:pt x="0" y="0"/>
                </a:moveTo>
                <a:lnTo>
                  <a:pt x="1181415" y="0"/>
                </a:lnTo>
                <a:lnTo>
                  <a:pt x="1181415" y="1032184"/>
                </a:lnTo>
                <a:lnTo>
                  <a:pt x="0" y="1032184"/>
                </a:lnTo>
                <a:lnTo>
                  <a:pt x="0" y="0"/>
                </a:lnTo>
                <a:close/>
              </a:path>
            </a:pathLst>
          </a:custGeom>
          <a:blipFill>
            <a:blip r:embed="rId4"/>
            <a:stretch>
              <a:fillRect/>
            </a:stretch>
          </a:blipFill>
        </p:spPr>
      </p:sp>
      <p:sp>
        <p:nvSpPr>
          <p:cNvPr id="5" name="Freeform 5"/>
          <p:cNvSpPr/>
          <p:nvPr/>
        </p:nvSpPr>
        <p:spPr>
          <a:xfrm rot="-5258646">
            <a:off x="1088930" y="4187770"/>
            <a:ext cx="1464004" cy="1525575"/>
          </a:xfrm>
          <a:custGeom>
            <a:avLst/>
            <a:gdLst/>
            <a:ahLst/>
            <a:cxnLst/>
            <a:rect l="l" t="t" r="r" b="b"/>
            <a:pathLst>
              <a:path w="1464004" h="1525575">
                <a:moveTo>
                  <a:pt x="0" y="0"/>
                </a:moveTo>
                <a:lnTo>
                  <a:pt x="1464005" y="0"/>
                </a:lnTo>
                <a:lnTo>
                  <a:pt x="1464005" y="1525575"/>
                </a:lnTo>
                <a:lnTo>
                  <a:pt x="0" y="1525575"/>
                </a:lnTo>
                <a:lnTo>
                  <a:pt x="0" y="0"/>
                </a:lnTo>
                <a:close/>
              </a:path>
            </a:pathLst>
          </a:custGeom>
          <a:blipFill>
            <a:blip r:embed="rId5"/>
            <a:stretch>
              <a:fillRect/>
            </a:stretch>
          </a:blipFill>
        </p:spPr>
      </p:sp>
      <p:grpSp>
        <p:nvGrpSpPr>
          <p:cNvPr id="6" name="Group 6"/>
          <p:cNvGrpSpPr/>
          <p:nvPr/>
        </p:nvGrpSpPr>
        <p:grpSpPr>
          <a:xfrm>
            <a:off x="8669212" y="4648368"/>
            <a:ext cx="8932988" cy="2017490"/>
            <a:chOff x="0" y="-149825"/>
            <a:chExt cx="11910651" cy="2689986"/>
          </a:xfrm>
        </p:grpSpPr>
        <p:sp>
          <p:nvSpPr>
            <p:cNvPr id="7" name="TextBox 7"/>
            <p:cNvSpPr txBox="1"/>
            <p:nvPr/>
          </p:nvSpPr>
          <p:spPr>
            <a:xfrm>
              <a:off x="328251" y="-149825"/>
              <a:ext cx="11582400" cy="1316600"/>
            </a:xfrm>
            <a:prstGeom prst="rect">
              <a:avLst/>
            </a:prstGeom>
          </p:spPr>
          <p:txBody>
            <a:bodyPr wrap="square" lIns="0" tIns="0" rIns="0" bIns="0" rtlCol="0" anchor="t">
              <a:spAutoFit/>
            </a:bodyPr>
            <a:lstStyle/>
            <a:p>
              <a:pPr>
                <a:lnSpc>
                  <a:spcPts val="7687"/>
                </a:lnSpc>
                <a:spcBef>
                  <a:spcPct val="0"/>
                </a:spcBef>
              </a:pPr>
              <a:r>
                <a:rPr lang="en-US" sz="7000" b="1" dirty="0">
                  <a:solidFill>
                    <a:srgbClr val="F3F3F3"/>
                  </a:solidFill>
                  <a:latin typeface="Times New Roman" panose="02020603050405020304" pitchFamily="18" charset="0"/>
                  <a:cs typeface="Times New Roman" panose="02020603050405020304" pitchFamily="18" charset="0"/>
                </a:rPr>
                <a:t>GIỚI THIỆU ĐỀ TÀI</a:t>
              </a:r>
            </a:p>
          </p:txBody>
        </p:sp>
        <p:sp>
          <p:nvSpPr>
            <p:cNvPr id="8" name="TextBox 8"/>
            <p:cNvSpPr txBox="1"/>
            <p:nvPr/>
          </p:nvSpPr>
          <p:spPr>
            <a:xfrm>
              <a:off x="0" y="2022478"/>
              <a:ext cx="7552716" cy="517683"/>
            </a:xfrm>
            <a:prstGeom prst="rect">
              <a:avLst/>
            </a:prstGeom>
          </p:spPr>
          <p:txBody>
            <a:bodyPr lIns="0" tIns="0" rIns="0" bIns="0" rtlCol="0" anchor="t">
              <a:spAutoFit/>
            </a:bodyPr>
            <a:lstStyle/>
            <a:p>
              <a:pPr marL="0" lvl="0" indent="0">
                <a:lnSpc>
                  <a:spcPts val="3359"/>
                </a:lnSpc>
              </a:pPr>
              <a:r>
                <a:rPr lang="en-US" sz="2400" spc="31">
                  <a:solidFill>
                    <a:srgbClr val="F3F3F3"/>
                  </a:solidFill>
                  <a:latin typeface="Arimo"/>
                </a:rPr>
                <a:t> </a:t>
              </a:r>
            </a:p>
          </p:txBody>
        </p:sp>
      </p:grpSp>
      <p:sp>
        <p:nvSpPr>
          <p:cNvPr id="9" name="TextBox 9"/>
          <p:cNvSpPr txBox="1"/>
          <p:nvPr/>
        </p:nvSpPr>
        <p:spPr>
          <a:xfrm>
            <a:off x="12115800" y="2905079"/>
            <a:ext cx="1794078" cy="1422400"/>
          </a:xfrm>
          <a:prstGeom prst="rect">
            <a:avLst/>
          </a:prstGeom>
        </p:spPr>
        <p:txBody>
          <a:bodyPr lIns="0" tIns="0" rIns="0" bIns="0" rtlCol="0" anchor="t">
            <a:spAutoFit/>
          </a:bodyPr>
          <a:lstStyle/>
          <a:p>
            <a:pPr marL="0" lvl="0" indent="0" algn="ctr">
              <a:lnSpc>
                <a:spcPts val="10999"/>
              </a:lnSpc>
              <a:spcBef>
                <a:spcPct val="0"/>
              </a:spcBef>
            </a:pPr>
            <a:r>
              <a:rPr lang="en-US" sz="9999" dirty="0">
                <a:solidFill>
                  <a:srgbClr val="F3F3F3"/>
                </a:solidFill>
                <a:latin typeface="Clear Sans Bold"/>
              </a:rPr>
              <a:t>01</a:t>
            </a:r>
          </a:p>
        </p:txBody>
      </p:sp>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67800" y="5788090"/>
            <a:ext cx="8229600" cy="417195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chemeClr val="accent1"/>
                </a:solidFill>
              </a14:hiddenFill>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050"/>
                                        </p:tgtEl>
                                        <p:attrNameLst>
                                          <p:attrName>style.visibility</p:attrName>
                                        </p:attrNameLst>
                                      </p:cBhvr>
                                      <p:to>
                                        <p:strVal val="visible"/>
                                      </p:to>
                                    </p:set>
                                    <p:anim calcmode="lin" valueType="num">
                                      <p:cBhvr additive="base">
                                        <p:cTn id="15" dur="500" fill="hold"/>
                                        <p:tgtEl>
                                          <p:spTgt spid="2050"/>
                                        </p:tgtEl>
                                        <p:attrNameLst>
                                          <p:attrName>ppt_x</p:attrName>
                                        </p:attrNameLst>
                                      </p:cBhvr>
                                      <p:tavLst>
                                        <p:tav tm="0">
                                          <p:val>
                                            <p:strVal val="#ppt_x"/>
                                          </p:val>
                                        </p:tav>
                                        <p:tav tm="100000">
                                          <p:val>
                                            <p:strVal val="#ppt_x"/>
                                          </p:val>
                                        </p:tav>
                                      </p:tavLst>
                                    </p:anim>
                                    <p:anim calcmode="lin" valueType="num">
                                      <p:cBhvr additive="base">
                                        <p:cTn id="16"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
        <p:cNvGrpSpPr/>
        <p:nvPr/>
      </p:nvGrpSpPr>
      <p:grpSpPr>
        <a:xfrm>
          <a:off x="0" y="0"/>
          <a:ext cx="0" cy="0"/>
          <a:chOff x="0" y="0"/>
          <a:chExt cx="0" cy="0"/>
        </a:xfrm>
      </p:grpSpPr>
      <p:grpSp>
        <p:nvGrpSpPr>
          <p:cNvPr id="2" name="Group 2"/>
          <p:cNvGrpSpPr/>
          <p:nvPr/>
        </p:nvGrpSpPr>
        <p:grpSpPr>
          <a:xfrm>
            <a:off x="2133093" y="253041"/>
            <a:ext cx="14111154" cy="2179036"/>
            <a:chOff x="-520737" y="178567"/>
            <a:chExt cx="18814872" cy="2905381"/>
          </a:xfrm>
        </p:grpSpPr>
        <p:sp>
          <p:nvSpPr>
            <p:cNvPr id="3" name="TextBox 3"/>
            <p:cNvSpPr txBox="1"/>
            <p:nvPr/>
          </p:nvSpPr>
          <p:spPr>
            <a:xfrm>
              <a:off x="-520737" y="178567"/>
              <a:ext cx="18814872" cy="1771340"/>
            </a:xfrm>
            <a:prstGeom prst="rect">
              <a:avLst/>
            </a:prstGeom>
          </p:spPr>
          <p:txBody>
            <a:bodyPr lIns="0" tIns="0" rIns="0" bIns="0" rtlCol="0" anchor="t">
              <a:spAutoFit/>
            </a:bodyPr>
            <a:lstStyle/>
            <a:p>
              <a:pPr marL="0" lvl="0" indent="0" algn="ctr">
                <a:lnSpc>
                  <a:spcPts val="11000"/>
                </a:lnSpc>
                <a:spcBef>
                  <a:spcPct val="0"/>
                </a:spcBef>
              </a:pPr>
              <a:r>
                <a:rPr lang="en-US" sz="8000" dirty="0">
                  <a:solidFill>
                    <a:srgbClr val="000000"/>
                  </a:solidFill>
                  <a:latin typeface="Times New Roman" panose="02020603050405020304" pitchFamily="18" charset="0"/>
                  <a:cs typeface="Times New Roman" panose="02020603050405020304" pitchFamily="18" charset="0"/>
                </a:rPr>
                <a:t>LÍ DO CHỌN ĐỀ TÀI</a:t>
              </a:r>
            </a:p>
          </p:txBody>
        </p:sp>
        <p:sp>
          <p:nvSpPr>
            <p:cNvPr id="4" name="TextBox 4"/>
            <p:cNvSpPr txBox="1"/>
            <p:nvPr/>
          </p:nvSpPr>
          <p:spPr>
            <a:xfrm>
              <a:off x="3082654" y="2264458"/>
              <a:ext cx="12649565" cy="819490"/>
            </a:xfrm>
            <a:prstGeom prst="rect">
              <a:avLst/>
            </a:prstGeom>
          </p:spPr>
          <p:txBody>
            <a:bodyPr lIns="0" tIns="0" rIns="0" bIns="0" rtlCol="0" anchor="t">
              <a:spAutoFit/>
            </a:bodyPr>
            <a:lstStyle/>
            <a:p>
              <a:pPr algn="ctr">
                <a:lnSpc>
                  <a:spcPts val="5039"/>
                </a:lnSpc>
                <a:spcBef>
                  <a:spcPct val="0"/>
                </a:spcBef>
              </a:pPr>
              <a:endParaRPr/>
            </a:p>
          </p:txBody>
        </p:sp>
      </p:grpSp>
      <p:sp>
        <p:nvSpPr>
          <p:cNvPr id="5" name="Freeform 5"/>
          <p:cNvSpPr/>
          <p:nvPr/>
        </p:nvSpPr>
        <p:spPr>
          <a:xfrm>
            <a:off x="-1117328" y="-790402"/>
            <a:ext cx="3223648" cy="3735639"/>
          </a:xfrm>
          <a:custGeom>
            <a:avLst/>
            <a:gdLst/>
            <a:ahLst/>
            <a:cxnLst/>
            <a:rect l="l" t="t" r="r" b="b"/>
            <a:pathLst>
              <a:path w="3223648" h="3735639">
                <a:moveTo>
                  <a:pt x="0" y="0"/>
                </a:moveTo>
                <a:lnTo>
                  <a:pt x="3223648" y="0"/>
                </a:lnTo>
                <a:lnTo>
                  <a:pt x="3223648" y="3735639"/>
                </a:lnTo>
                <a:lnTo>
                  <a:pt x="0" y="3735639"/>
                </a:lnTo>
                <a:lnTo>
                  <a:pt x="0" y="0"/>
                </a:lnTo>
                <a:close/>
              </a:path>
            </a:pathLst>
          </a:custGeom>
          <a:blipFill>
            <a:blip r:embed="rId2"/>
            <a:stretch>
              <a:fillRect/>
            </a:stretch>
          </a:blipFill>
        </p:spPr>
      </p:sp>
      <p:sp>
        <p:nvSpPr>
          <p:cNvPr id="6" name="Freeform 6"/>
          <p:cNvSpPr/>
          <p:nvPr/>
        </p:nvSpPr>
        <p:spPr>
          <a:xfrm rot="122722">
            <a:off x="271786" y="612605"/>
            <a:ext cx="2476725" cy="1325983"/>
          </a:xfrm>
          <a:custGeom>
            <a:avLst/>
            <a:gdLst/>
            <a:ahLst/>
            <a:cxnLst/>
            <a:rect l="l" t="t" r="r" b="b"/>
            <a:pathLst>
              <a:path w="2476725" h="1325983">
                <a:moveTo>
                  <a:pt x="0" y="0"/>
                </a:moveTo>
                <a:lnTo>
                  <a:pt x="2476725" y="0"/>
                </a:lnTo>
                <a:lnTo>
                  <a:pt x="2476725" y="1325982"/>
                </a:lnTo>
                <a:lnTo>
                  <a:pt x="0" y="1325982"/>
                </a:lnTo>
                <a:lnTo>
                  <a:pt x="0" y="0"/>
                </a:lnTo>
                <a:close/>
              </a:path>
            </a:pathLst>
          </a:custGeom>
          <a:blipFill>
            <a:blip r:embed="rId3"/>
            <a:stretch>
              <a:fillRect/>
            </a:stretch>
          </a:blipFill>
        </p:spPr>
      </p:sp>
      <p:sp>
        <p:nvSpPr>
          <p:cNvPr id="7" name="Freeform 7"/>
          <p:cNvSpPr/>
          <p:nvPr/>
        </p:nvSpPr>
        <p:spPr>
          <a:xfrm>
            <a:off x="14957545" y="7086166"/>
            <a:ext cx="8765490" cy="5065179"/>
          </a:xfrm>
          <a:custGeom>
            <a:avLst/>
            <a:gdLst/>
            <a:ahLst/>
            <a:cxnLst/>
            <a:rect l="l" t="t" r="r" b="b"/>
            <a:pathLst>
              <a:path w="8765490" h="5065179">
                <a:moveTo>
                  <a:pt x="0" y="0"/>
                </a:moveTo>
                <a:lnTo>
                  <a:pt x="8765490" y="0"/>
                </a:lnTo>
                <a:lnTo>
                  <a:pt x="8765490" y="5065179"/>
                </a:lnTo>
                <a:lnTo>
                  <a:pt x="0" y="5065179"/>
                </a:lnTo>
                <a:lnTo>
                  <a:pt x="0" y="0"/>
                </a:lnTo>
                <a:close/>
              </a:path>
            </a:pathLst>
          </a:custGeom>
          <a:blipFill>
            <a:blip r:embed="rId4"/>
            <a:stretch>
              <a:fillRect/>
            </a:stretch>
          </a:blipFill>
        </p:spPr>
      </p:sp>
      <p:grpSp>
        <p:nvGrpSpPr>
          <p:cNvPr id="8" name="Group 8"/>
          <p:cNvGrpSpPr/>
          <p:nvPr/>
        </p:nvGrpSpPr>
        <p:grpSpPr>
          <a:xfrm>
            <a:off x="2106320" y="116100"/>
            <a:ext cx="22022338" cy="7717072"/>
            <a:chOff x="0" y="-4022"/>
            <a:chExt cx="29363118" cy="10289427"/>
          </a:xfrm>
        </p:grpSpPr>
        <p:sp>
          <p:nvSpPr>
            <p:cNvPr id="9" name="TextBox 9"/>
            <p:cNvSpPr txBox="1"/>
            <p:nvPr/>
          </p:nvSpPr>
          <p:spPr>
            <a:xfrm>
              <a:off x="0" y="-4022"/>
              <a:ext cx="29363118" cy="1560564"/>
            </a:xfrm>
            <a:prstGeom prst="rect">
              <a:avLst/>
            </a:prstGeom>
          </p:spPr>
          <p:txBody>
            <a:bodyPr lIns="0" tIns="0" rIns="0" bIns="0" rtlCol="0" anchor="t">
              <a:spAutoFit/>
            </a:bodyPr>
            <a:lstStyle/>
            <a:p>
              <a:pPr>
                <a:lnSpc>
                  <a:spcPts val="9377"/>
                </a:lnSpc>
                <a:spcBef>
                  <a:spcPct val="0"/>
                </a:spcBef>
              </a:pPr>
              <a:endParaRPr/>
            </a:p>
          </p:txBody>
        </p:sp>
        <p:sp>
          <p:nvSpPr>
            <p:cNvPr id="10" name="TextBox 10"/>
            <p:cNvSpPr txBox="1"/>
            <p:nvPr/>
          </p:nvSpPr>
          <p:spPr>
            <a:xfrm>
              <a:off x="35697" y="2727782"/>
              <a:ext cx="20495664" cy="7557623"/>
            </a:xfrm>
            <a:prstGeom prst="rect">
              <a:avLst/>
            </a:prstGeom>
          </p:spPr>
          <p:txBody>
            <a:bodyPr lIns="0" tIns="0" rIns="0" bIns="0" rtlCol="0" anchor="t">
              <a:spAutoFit/>
            </a:bodyPr>
            <a:lstStyle/>
            <a:p>
              <a:pPr algn="just"/>
              <a:r>
                <a:rPr lang="en-US" sz="3200">
                  <a:solidFill>
                    <a:schemeClr val="bg2">
                      <a:lumMod val="25000"/>
                    </a:schemeClr>
                  </a:solidFill>
                  <a:latin typeface="Times New Roman" panose="02020603050405020304" pitchFamily="18" charset="0"/>
                  <a:cs typeface="Times New Roman" panose="02020603050405020304" pitchFamily="18" charset="0"/>
                </a:rPr>
                <a:t>Cùng với sự phát triển mạnh mẽ của công nghệ thông tin và cùng với sự xâm nhập nhanh chóng của tin học vào mọi lĩnh vực của đời sống xã hội thì việc sử dụng máy tính trong công tác quản lý đã trở thành một nhu cầu cấp bách, </a:t>
              </a:r>
              <a:r>
                <a:rPr lang="en-US" sz="3200" smtClean="0">
                  <a:solidFill>
                    <a:schemeClr val="bg2">
                      <a:lumMod val="25000"/>
                    </a:schemeClr>
                  </a:solidFill>
                  <a:latin typeface="Times New Roman" panose="02020603050405020304" pitchFamily="18" charset="0"/>
                  <a:cs typeface="Times New Roman" panose="02020603050405020304" pitchFamily="18" charset="0"/>
                </a:rPr>
                <a:t>nhằm </a:t>
              </a:r>
              <a:r>
                <a:rPr lang="en-US" sz="3200">
                  <a:solidFill>
                    <a:schemeClr val="bg2">
                      <a:lumMod val="25000"/>
                    </a:schemeClr>
                  </a:solidFill>
                  <a:latin typeface="Times New Roman" panose="02020603050405020304" pitchFamily="18" charset="0"/>
                  <a:cs typeface="Times New Roman" panose="02020603050405020304" pitchFamily="18" charset="0"/>
                </a:rPr>
                <a:t>nâng cao chất lượng và hiệu quả trong công tác quản lý</a:t>
              </a:r>
              <a:r>
                <a:rPr lang="en-US" sz="3200" smtClean="0">
                  <a:solidFill>
                    <a:schemeClr val="bg2">
                      <a:lumMod val="25000"/>
                    </a:schemeClr>
                  </a:solidFill>
                  <a:latin typeface="Times New Roman" panose="02020603050405020304" pitchFamily="18" charset="0"/>
                  <a:cs typeface="Times New Roman" panose="02020603050405020304" pitchFamily="18" charset="0"/>
                </a:rPr>
                <a:t>.</a:t>
              </a:r>
            </a:p>
            <a:p>
              <a:pPr algn="just"/>
              <a:endParaRPr lang="en-US" sz="3200">
                <a:solidFill>
                  <a:schemeClr val="bg2">
                    <a:lumMod val="25000"/>
                  </a:schemeClr>
                </a:solidFill>
                <a:latin typeface="Times New Roman" panose="02020603050405020304" pitchFamily="18" charset="0"/>
                <a:cs typeface="Times New Roman" panose="02020603050405020304" pitchFamily="18" charset="0"/>
              </a:endParaRPr>
            </a:p>
            <a:p>
              <a:pPr algn="just"/>
              <a:r>
                <a:rPr lang="en-US" sz="3200">
                  <a:solidFill>
                    <a:schemeClr val="bg2">
                      <a:lumMod val="25000"/>
                    </a:schemeClr>
                  </a:solidFill>
                  <a:latin typeface="Times New Roman" panose="02020603050405020304" pitchFamily="18" charset="0"/>
                  <a:cs typeface="Times New Roman" panose="02020603050405020304" pitchFamily="18" charset="0"/>
                </a:rPr>
                <a:t>Trong lĩnh vực quản lý thông tin của cửa hàng văn phòng phẩm, việc điều chỉnh và bổ sung thông tin thực thiện rất khó khăn và không rõ ràng, việc tìm kiếm thông tin cũng mất nhiều thời gian do số lượng hàng hóa nhập, xuất hàng năm là rất lớn. Quản lý bằng sổ tay rất thủ công mà độ chính xác lại không cao. Do đó, việc ứng dụng tin học trong việc quản lý sẽ giúp nâng cao hiệu quả công việc, tiết kiệm thời gian hơn và thao tác cũng đơn giản hơn rất nhiều.</a:t>
              </a:r>
            </a:p>
            <a:p>
              <a:pPr>
                <a:lnSpc>
                  <a:spcPts val="5806"/>
                </a:lnSpc>
              </a:pPr>
              <a:endParaRPr lang="en-US" sz="3200" spc="53" dirty="0">
                <a:solidFill>
                  <a:schemeClr val="bg2">
                    <a:lumMod val="25000"/>
                  </a:schemeClr>
                </a:solidFill>
                <a:latin typeface="Times New Roman" panose="02020603050405020304" pitchFamily="18" charset="0"/>
                <a:cs typeface="Times New Roman" panose="02020603050405020304" pitchFamily="18" charset="0"/>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E8083"/>
        </a:solidFill>
        <a:effectLst/>
      </p:bgPr>
    </p:bg>
    <p:spTree>
      <p:nvGrpSpPr>
        <p:cNvPr id="1" name=""/>
        <p:cNvGrpSpPr/>
        <p:nvPr/>
      </p:nvGrpSpPr>
      <p:grpSpPr>
        <a:xfrm>
          <a:off x="0" y="0"/>
          <a:ext cx="0" cy="0"/>
          <a:chOff x="0" y="0"/>
          <a:chExt cx="0" cy="0"/>
        </a:xfrm>
      </p:grpSpPr>
      <p:sp>
        <p:nvSpPr>
          <p:cNvPr id="2" name="Freeform 2"/>
          <p:cNvSpPr/>
          <p:nvPr/>
        </p:nvSpPr>
        <p:spPr>
          <a:xfrm rot="-5400000">
            <a:off x="-4114800" y="1758224"/>
            <a:ext cx="8229600" cy="4713151"/>
          </a:xfrm>
          <a:custGeom>
            <a:avLst/>
            <a:gdLst/>
            <a:ahLst/>
            <a:cxnLst/>
            <a:rect l="l" t="t" r="r" b="b"/>
            <a:pathLst>
              <a:path w="8229600" h="4713151">
                <a:moveTo>
                  <a:pt x="0" y="0"/>
                </a:moveTo>
                <a:lnTo>
                  <a:pt x="8229600" y="0"/>
                </a:lnTo>
                <a:lnTo>
                  <a:pt x="8229600" y="4713152"/>
                </a:lnTo>
                <a:lnTo>
                  <a:pt x="0" y="4713152"/>
                </a:lnTo>
                <a:lnTo>
                  <a:pt x="0" y="0"/>
                </a:lnTo>
                <a:close/>
              </a:path>
            </a:pathLst>
          </a:custGeom>
          <a:blipFill>
            <a:blip r:embed="rId2"/>
            <a:stretch>
              <a:fillRect t="-16551"/>
            </a:stretch>
          </a:blipFill>
        </p:spPr>
      </p:sp>
      <p:sp>
        <p:nvSpPr>
          <p:cNvPr id="3" name="Freeform 3"/>
          <p:cNvSpPr/>
          <p:nvPr/>
        </p:nvSpPr>
        <p:spPr>
          <a:xfrm>
            <a:off x="466484" y="80962"/>
            <a:ext cx="2037234" cy="1468147"/>
          </a:xfrm>
          <a:custGeom>
            <a:avLst/>
            <a:gdLst/>
            <a:ahLst/>
            <a:cxnLst/>
            <a:rect l="l" t="t" r="r" b="b"/>
            <a:pathLst>
              <a:path w="2037234" h="1468147">
                <a:moveTo>
                  <a:pt x="0" y="0"/>
                </a:moveTo>
                <a:lnTo>
                  <a:pt x="2037234" y="0"/>
                </a:lnTo>
                <a:lnTo>
                  <a:pt x="2037234" y="1468148"/>
                </a:lnTo>
                <a:lnTo>
                  <a:pt x="0" y="1468148"/>
                </a:lnTo>
                <a:lnTo>
                  <a:pt x="0" y="0"/>
                </a:lnTo>
                <a:close/>
              </a:path>
            </a:pathLst>
          </a:custGeom>
          <a:blipFill>
            <a:blip r:embed="rId3"/>
            <a:stretch>
              <a:fillRect/>
            </a:stretch>
          </a:blipFill>
        </p:spPr>
      </p:sp>
      <p:sp>
        <p:nvSpPr>
          <p:cNvPr id="4" name="Freeform 4"/>
          <p:cNvSpPr/>
          <p:nvPr/>
        </p:nvSpPr>
        <p:spPr>
          <a:xfrm rot="7729394">
            <a:off x="1666799" y="7318193"/>
            <a:ext cx="1181415" cy="1032184"/>
          </a:xfrm>
          <a:custGeom>
            <a:avLst/>
            <a:gdLst/>
            <a:ahLst/>
            <a:cxnLst/>
            <a:rect l="l" t="t" r="r" b="b"/>
            <a:pathLst>
              <a:path w="1181415" h="1032184">
                <a:moveTo>
                  <a:pt x="0" y="0"/>
                </a:moveTo>
                <a:lnTo>
                  <a:pt x="1181415" y="0"/>
                </a:lnTo>
                <a:lnTo>
                  <a:pt x="1181415" y="1032184"/>
                </a:lnTo>
                <a:lnTo>
                  <a:pt x="0" y="1032184"/>
                </a:lnTo>
                <a:lnTo>
                  <a:pt x="0" y="0"/>
                </a:lnTo>
                <a:close/>
              </a:path>
            </a:pathLst>
          </a:custGeom>
          <a:blipFill>
            <a:blip r:embed="rId4"/>
            <a:stretch>
              <a:fillRect/>
            </a:stretch>
          </a:blipFill>
        </p:spPr>
      </p:sp>
      <p:sp>
        <p:nvSpPr>
          <p:cNvPr id="5" name="Freeform 5"/>
          <p:cNvSpPr/>
          <p:nvPr/>
        </p:nvSpPr>
        <p:spPr>
          <a:xfrm rot="-5258646">
            <a:off x="1088930" y="4187770"/>
            <a:ext cx="1464004" cy="1525575"/>
          </a:xfrm>
          <a:custGeom>
            <a:avLst/>
            <a:gdLst/>
            <a:ahLst/>
            <a:cxnLst/>
            <a:rect l="l" t="t" r="r" b="b"/>
            <a:pathLst>
              <a:path w="1464004" h="1525575">
                <a:moveTo>
                  <a:pt x="0" y="0"/>
                </a:moveTo>
                <a:lnTo>
                  <a:pt x="1464005" y="0"/>
                </a:lnTo>
                <a:lnTo>
                  <a:pt x="1464005" y="1525575"/>
                </a:lnTo>
                <a:lnTo>
                  <a:pt x="0" y="1525575"/>
                </a:lnTo>
                <a:lnTo>
                  <a:pt x="0" y="0"/>
                </a:lnTo>
                <a:close/>
              </a:path>
            </a:pathLst>
          </a:custGeom>
          <a:blipFill>
            <a:blip r:embed="rId5"/>
            <a:stretch>
              <a:fillRect/>
            </a:stretch>
          </a:blipFill>
        </p:spPr>
      </p:sp>
      <p:sp>
        <p:nvSpPr>
          <p:cNvPr id="6" name="TextBox 6"/>
          <p:cNvSpPr txBox="1"/>
          <p:nvPr/>
        </p:nvSpPr>
        <p:spPr>
          <a:xfrm>
            <a:off x="6934200" y="1184250"/>
            <a:ext cx="6899542" cy="987450"/>
          </a:xfrm>
          <a:prstGeom prst="rect">
            <a:avLst/>
          </a:prstGeom>
        </p:spPr>
        <p:txBody>
          <a:bodyPr lIns="0" tIns="0" rIns="0" bIns="0" rtlCol="0" anchor="t">
            <a:spAutoFit/>
          </a:bodyPr>
          <a:lstStyle/>
          <a:p>
            <a:pPr>
              <a:lnSpc>
                <a:spcPts val="7687"/>
              </a:lnSpc>
              <a:spcBef>
                <a:spcPct val="0"/>
              </a:spcBef>
            </a:pPr>
            <a:r>
              <a:rPr lang="en-US" sz="6600" b="1" dirty="0">
                <a:solidFill>
                  <a:srgbClr val="F3F3F3"/>
                </a:solidFill>
                <a:latin typeface="Times New Roman" panose="02020603050405020304" pitchFamily="18" charset="0"/>
                <a:cs typeface="Times New Roman" panose="02020603050405020304" pitchFamily="18" charset="0"/>
              </a:rPr>
              <a:t>MỤC TIÊU</a:t>
            </a:r>
          </a:p>
        </p:txBody>
      </p:sp>
      <p:grpSp>
        <p:nvGrpSpPr>
          <p:cNvPr id="7" name="Group 7"/>
          <p:cNvGrpSpPr/>
          <p:nvPr/>
        </p:nvGrpSpPr>
        <p:grpSpPr>
          <a:xfrm>
            <a:off x="2106320" y="4145255"/>
            <a:ext cx="22022338" cy="2529364"/>
            <a:chOff x="0" y="0"/>
            <a:chExt cx="29363118" cy="3372485"/>
          </a:xfrm>
        </p:grpSpPr>
        <p:sp>
          <p:nvSpPr>
            <p:cNvPr id="8" name="TextBox 8"/>
            <p:cNvSpPr txBox="1"/>
            <p:nvPr/>
          </p:nvSpPr>
          <p:spPr>
            <a:xfrm>
              <a:off x="0" y="-4022"/>
              <a:ext cx="29363118" cy="1560564"/>
            </a:xfrm>
            <a:prstGeom prst="rect">
              <a:avLst/>
            </a:prstGeom>
          </p:spPr>
          <p:txBody>
            <a:bodyPr lIns="0" tIns="0" rIns="0" bIns="0" rtlCol="0" anchor="t">
              <a:spAutoFit/>
            </a:bodyPr>
            <a:lstStyle/>
            <a:p>
              <a:pPr>
                <a:lnSpc>
                  <a:spcPts val="9377"/>
                </a:lnSpc>
                <a:spcBef>
                  <a:spcPct val="0"/>
                </a:spcBef>
              </a:pPr>
              <a:endParaRPr/>
            </a:p>
          </p:txBody>
        </p:sp>
        <p:sp>
          <p:nvSpPr>
            <p:cNvPr id="9" name="TextBox 9"/>
            <p:cNvSpPr txBox="1"/>
            <p:nvPr/>
          </p:nvSpPr>
          <p:spPr>
            <a:xfrm>
              <a:off x="0" y="2365466"/>
              <a:ext cx="20495665" cy="1007019"/>
            </a:xfrm>
            <a:prstGeom prst="rect">
              <a:avLst/>
            </a:prstGeom>
          </p:spPr>
          <p:txBody>
            <a:bodyPr lIns="0" tIns="0" rIns="0" bIns="0" rtlCol="0" anchor="t">
              <a:spAutoFit/>
            </a:bodyPr>
            <a:lstStyle/>
            <a:p>
              <a:pPr marL="0" lvl="0" indent="0">
                <a:lnSpc>
                  <a:spcPts val="5806"/>
                </a:lnSpc>
              </a:pPr>
              <a:endParaRPr/>
            </a:p>
          </p:txBody>
        </p:sp>
      </p:grpSp>
      <p:grpSp>
        <p:nvGrpSpPr>
          <p:cNvPr id="10" name="Group 10"/>
          <p:cNvGrpSpPr/>
          <p:nvPr/>
        </p:nvGrpSpPr>
        <p:grpSpPr>
          <a:xfrm>
            <a:off x="2778936" y="1025683"/>
            <a:ext cx="21349722" cy="6111208"/>
            <a:chOff x="0" y="-4022"/>
            <a:chExt cx="28466296" cy="8148277"/>
          </a:xfrm>
        </p:grpSpPr>
        <p:sp>
          <p:nvSpPr>
            <p:cNvPr id="11" name="TextBox 11"/>
            <p:cNvSpPr txBox="1"/>
            <p:nvPr/>
          </p:nvSpPr>
          <p:spPr>
            <a:xfrm>
              <a:off x="0" y="-4022"/>
              <a:ext cx="28466296" cy="1560564"/>
            </a:xfrm>
            <a:prstGeom prst="rect">
              <a:avLst/>
            </a:prstGeom>
          </p:spPr>
          <p:txBody>
            <a:bodyPr lIns="0" tIns="0" rIns="0" bIns="0" rtlCol="0" anchor="t">
              <a:spAutoFit/>
            </a:bodyPr>
            <a:lstStyle/>
            <a:p>
              <a:pPr>
                <a:lnSpc>
                  <a:spcPts val="9377"/>
                </a:lnSpc>
                <a:spcBef>
                  <a:spcPct val="0"/>
                </a:spcBef>
              </a:pPr>
              <a:endParaRPr/>
            </a:p>
          </p:txBody>
        </p:sp>
        <p:sp>
          <p:nvSpPr>
            <p:cNvPr id="12" name="TextBox 12"/>
            <p:cNvSpPr txBox="1"/>
            <p:nvPr/>
          </p:nvSpPr>
          <p:spPr>
            <a:xfrm>
              <a:off x="199475" y="2335742"/>
              <a:ext cx="19869677" cy="5808513"/>
            </a:xfrm>
            <a:prstGeom prst="rect">
              <a:avLst/>
            </a:prstGeom>
          </p:spPr>
          <p:txBody>
            <a:bodyPr lIns="0" tIns="0" rIns="0" bIns="0" rtlCol="0" anchor="t">
              <a:spAutoFit/>
            </a:bodyPr>
            <a:lstStyle/>
            <a:p>
              <a:pPr marL="571500" lvl="0" indent="-571500" algn="just">
                <a:buFont typeface="Wingdings" panose="05000000000000000000" pitchFamily="2" charset="2"/>
                <a:buChar char="ü"/>
              </a:pPr>
              <a:r>
                <a:rPr lang="en-US" sz="4000">
                  <a:solidFill>
                    <a:schemeClr val="bg2">
                      <a:lumMod val="90000"/>
                    </a:schemeClr>
                  </a:solidFill>
                  <a:latin typeface="Times New Roman" panose="02020603050405020304" pitchFamily="18" charset="0"/>
                  <a:cs typeface="Times New Roman" panose="02020603050405020304" pitchFamily="18" charset="0"/>
                </a:rPr>
                <a:t>Biết được các nhu cầu của các của hàng, doanh nghiệp, để qua đó có thể xây dựng được tính năng phù hợp cho phần mềm</a:t>
              </a:r>
            </a:p>
            <a:p>
              <a:pPr marL="571500" lvl="0" indent="-571500" algn="just">
                <a:buFont typeface="Wingdings" panose="05000000000000000000" pitchFamily="2" charset="2"/>
                <a:buChar char="ü"/>
              </a:pPr>
              <a:r>
                <a:rPr lang="en-US" sz="4000">
                  <a:solidFill>
                    <a:schemeClr val="bg2">
                      <a:lumMod val="90000"/>
                    </a:schemeClr>
                  </a:solidFill>
                  <a:latin typeface="Times New Roman" panose="02020603050405020304" pitchFamily="18" charset="0"/>
                  <a:cs typeface="Times New Roman" panose="02020603050405020304" pitchFamily="18" charset="0"/>
                </a:rPr>
                <a:t>Tìm ra các lỗi của phần mềm có thể xảy ra khi hoạt động và khắc phục nhanh chóng để phần mềm chạy một cách hiệu quả</a:t>
              </a:r>
            </a:p>
            <a:p>
              <a:pPr marL="571500" lvl="0" indent="-571500" algn="just">
                <a:buFont typeface="Wingdings" panose="05000000000000000000" pitchFamily="2" charset="2"/>
                <a:buChar char="ü"/>
              </a:pPr>
              <a:r>
                <a:rPr lang="en-US" sz="4000">
                  <a:solidFill>
                    <a:schemeClr val="bg2">
                      <a:lumMod val="90000"/>
                    </a:schemeClr>
                  </a:solidFill>
                  <a:latin typeface="Times New Roman" panose="02020603050405020304" pitchFamily="18" charset="0"/>
                  <a:cs typeface="Times New Roman" panose="02020603050405020304" pitchFamily="18" charset="0"/>
                </a:rPr>
                <a:t>Xây dựng phần mềm đáp ứng nhu cầu người dùng</a:t>
              </a:r>
            </a:p>
            <a:p>
              <a:pPr marL="571500" lvl="0" indent="-571500" algn="just">
                <a:buFont typeface="Wingdings" panose="05000000000000000000" pitchFamily="2" charset="2"/>
                <a:buChar char="ü"/>
              </a:pPr>
              <a:r>
                <a:rPr lang="en-US" sz="4000">
                  <a:solidFill>
                    <a:schemeClr val="bg2">
                      <a:lumMod val="90000"/>
                    </a:schemeClr>
                  </a:solidFill>
                  <a:latin typeface="Times New Roman" panose="02020603050405020304" pitchFamily="18" charset="0"/>
                  <a:cs typeface="Times New Roman" panose="02020603050405020304" pitchFamily="18" charset="0"/>
                </a:rPr>
                <a:t>Xây dựng một phần mềm một cách khoa học, dễ thao tác sử </a:t>
              </a:r>
              <a:r>
                <a:rPr lang="en-US" sz="4000" smtClean="0">
                  <a:solidFill>
                    <a:schemeClr val="bg2">
                      <a:lumMod val="90000"/>
                    </a:schemeClr>
                  </a:solidFill>
                  <a:latin typeface="Times New Roman" panose="02020603050405020304" pitchFamily="18" charset="0"/>
                  <a:cs typeface="Times New Roman" panose="02020603050405020304" pitchFamily="18" charset="0"/>
                </a:rPr>
                <a:t>dụng.</a:t>
              </a:r>
              <a:endParaRPr lang="en-US" sz="4000">
                <a:solidFill>
                  <a:schemeClr val="bg2">
                    <a:lumMod val="90000"/>
                  </a:schemeClr>
                </a:solidFill>
                <a:latin typeface="Times New Roman" panose="02020603050405020304" pitchFamily="18" charset="0"/>
                <a:cs typeface="Times New Roman" panose="02020603050405020304" pitchFamily="18" charset="0"/>
              </a:endParaRPr>
            </a:p>
            <a:p>
              <a:pPr marL="0" lvl="0" indent="0">
                <a:lnSpc>
                  <a:spcPts val="5806"/>
                </a:lnSpc>
              </a:pPr>
              <a:endParaRPr lang="en-US" sz="3500" spc="53" dirty="0">
                <a:solidFill>
                  <a:schemeClr val="bg2">
                    <a:lumMod val="90000"/>
                  </a:schemeClr>
                </a:solidFill>
                <a:latin typeface="Times New Roman"/>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anim calcmode="lin" valueType="num">
                                      <p:cBhvr>
                                        <p:cTn id="8"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ppt_x"/>
                                          </p:val>
                                        </p:tav>
                                        <p:tav tm="100000">
                                          <p:val>
                                            <p:strVal val="#ppt_x"/>
                                          </p:val>
                                        </p:tav>
                                      </p:tavLst>
                                    </p:anim>
                                    <p:anim calcmode="lin" valueType="num">
                                      <p:cBhvr additive="base">
                                        <p:cTn id="1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
        <p:cNvGrpSpPr/>
        <p:nvPr/>
      </p:nvGrpSpPr>
      <p:grpSpPr>
        <a:xfrm>
          <a:off x="0" y="0"/>
          <a:ext cx="0" cy="0"/>
          <a:chOff x="0" y="0"/>
          <a:chExt cx="0" cy="0"/>
        </a:xfrm>
      </p:grpSpPr>
      <p:sp>
        <p:nvSpPr>
          <p:cNvPr id="2" name="TextBox 2"/>
          <p:cNvSpPr txBox="1"/>
          <p:nvPr/>
        </p:nvSpPr>
        <p:spPr>
          <a:xfrm>
            <a:off x="1043940" y="762832"/>
            <a:ext cx="9486900" cy="952184"/>
          </a:xfrm>
          <a:prstGeom prst="rect">
            <a:avLst/>
          </a:prstGeom>
        </p:spPr>
        <p:txBody>
          <a:bodyPr wrap="square" lIns="0" tIns="0" rIns="0" bIns="0" rtlCol="0" anchor="t">
            <a:spAutoFit/>
          </a:bodyPr>
          <a:lstStyle/>
          <a:p>
            <a:pPr algn="ctr">
              <a:lnSpc>
                <a:spcPts val="7872"/>
              </a:lnSpc>
              <a:spcBef>
                <a:spcPct val="0"/>
              </a:spcBef>
            </a:pPr>
            <a:r>
              <a:rPr lang="en-US" sz="6400" b="1" dirty="0">
                <a:solidFill>
                  <a:srgbClr val="000000"/>
                </a:solidFill>
                <a:latin typeface="Times New Roman" panose="02020603050405020304" pitchFamily="18" charset="0"/>
                <a:cs typeface="Times New Roman" panose="02020603050405020304" pitchFamily="18" charset="0"/>
              </a:rPr>
              <a:t>CHỨC NĂNG CHÍNH</a:t>
            </a:r>
          </a:p>
        </p:txBody>
      </p:sp>
      <p:sp>
        <p:nvSpPr>
          <p:cNvPr id="3" name="Freeform 3"/>
          <p:cNvSpPr/>
          <p:nvPr/>
        </p:nvSpPr>
        <p:spPr>
          <a:xfrm>
            <a:off x="11571341" y="540437"/>
            <a:ext cx="5687959" cy="4603063"/>
          </a:xfrm>
          <a:custGeom>
            <a:avLst/>
            <a:gdLst/>
            <a:ahLst/>
            <a:cxnLst/>
            <a:rect l="l" t="t" r="r" b="b"/>
            <a:pathLst>
              <a:path w="5687959" h="4603063">
                <a:moveTo>
                  <a:pt x="0" y="0"/>
                </a:moveTo>
                <a:lnTo>
                  <a:pt x="5687959" y="0"/>
                </a:lnTo>
                <a:lnTo>
                  <a:pt x="5687959" y="4603063"/>
                </a:lnTo>
                <a:lnTo>
                  <a:pt x="0" y="4603063"/>
                </a:lnTo>
                <a:lnTo>
                  <a:pt x="0" y="0"/>
                </a:lnTo>
                <a:close/>
              </a:path>
            </a:pathLst>
          </a:custGeom>
          <a:blipFill>
            <a:blip r:embed="rId2"/>
            <a:stretch>
              <a:fillRect/>
            </a:stretch>
          </a:blipFill>
        </p:spPr>
      </p:sp>
      <p:sp>
        <p:nvSpPr>
          <p:cNvPr id="4" name="TextBox 4"/>
          <p:cNvSpPr txBox="1"/>
          <p:nvPr/>
        </p:nvSpPr>
        <p:spPr>
          <a:xfrm>
            <a:off x="2514600" y="2552700"/>
            <a:ext cx="9056741" cy="7399462"/>
          </a:xfrm>
          <a:prstGeom prst="rect">
            <a:avLst/>
          </a:prstGeom>
        </p:spPr>
        <p:txBody>
          <a:bodyPr wrap="square" lIns="0" tIns="0" rIns="0" bIns="0" rtlCol="0" anchor="t">
            <a:spAutoFit/>
          </a:bodyPr>
          <a:lstStyle/>
          <a:p>
            <a:pPr marL="571500" lvl="0" indent="-571500" algn="just">
              <a:buFont typeface="Arial" panose="020B0604020202020204" pitchFamily="34" charset="0"/>
              <a:buChar char="•"/>
            </a:pPr>
            <a:r>
              <a:rPr lang="en-US" sz="4000">
                <a:latin typeface="Times New Roman" panose="02020603050405020304" pitchFamily="18" charset="0"/>
                <a:cs typeface="Times New Roman" panose="02020603050405020304" pitchFamily="18" charset="0"/>
              </a:rPr>
              <a:t>Đăng </a:t>
            </a:r>
            <a:r>
              <a:rPr lang="en-US" sz="4000" smtClean="0">
                <a:latin typeface="Times New Roman" panose="02020603050405020304" pitchFamily="18" charset="0"/>
                <a:cs typeface="Times New Roman" panose="02020603050405020304" pitchFamily="18" charset="0"/>
              </a:rPr>
              <a:t>nhập, đăng kí, thêm Account</a:t>
            </a:r>
            <a:endParaRPr lang="en-US" sz="4000">
              <a:latin typeface="Times New Roman" panose="02020603050405020304" pitchFamily="18" charset="0"/>
              <a:cs typeface="Times New Roman" panose="02020603050405020304" pitchFamily="18" charset="0"/>
            </a:endParaRPr>
          </a:p>
          <a:p>
            <a:pPr marL="571500" lvl="0" indent="-571500" algn="just">
              <a:buFont typeface="Arial" panose="020B0604020202020204" pitchFamily="34" charset="0"/>
              <a:buChar char="•"/>
            </a:pPr>
            <a:r>
              <a:rPr lang="en-US" sz="4000">
                <a:latin typeface="Times New Roman" panose="02020603050405020304" pitchFamily="18" charset="0"/>
                <a:cs typeface="Times New Roman" panose="02020603050405020304" pitchFamily="18" charset="0"/>
              </a:rPr>
              <a:t>Tìm kiếm thông </a:t>
            </a:r>
            <a:r>
              <a:rPr lang="en-US" sz="4000" smtClean="0">
                <a:latin typeface="Times New Roman" panose="02020603050405020304" pitchFamily="18" charset="0"/>
                <a:cs typeface="Times New Roman" panose="02020603050405020304" pitchFamily="18" charset="0"/>
              </a:rPr>
              <a:t>tin</a:t>
            </a:r>
          </a:p>
          <a:p>
            <a:pPr marL="571500" lvl="0" indent="-571500" algn="just">
              <a:buFont typeface="Arial" panose="020B0604020202020204" pitchFamily="34" charset="0"/>
              <a:buChar char="•"/>
            </a:pPr>
            <a:r>
              <a:rPr lang="en-US" sz="4000" smtClean="0">
                <a:latin typeface="Times New Roman" panose="02020603050405020304" pitchFamily="18" charset="0"/>
                <a:cs typeface="Times New Roman" panose="02020603050405020304" pitchFamily="18" charset="0"/>
              </a:rPr>
              <a:t>Xem chi tiết</a:t>
            </a:r>
            <a:endParaRPr lang="en-US" sz="4000">
              <a:latin typeface="Times New Roman" panose="02020603050405020304" pitchFamily="18" charset="0"/>
              <a:cs typeface="Times New Roman" panose="02020603050405020304" pitchFamily="18" charset="0"/>
            </a:endParaRPr>
          </a:p>
          <a:p>
            <a:pPr marL="571500" lvl="0" indent="-571500" algn="just">
              <a:buFont typeface="Arial" panose="020B0604020202020204" pitchFamily="34" charset="0"/>
              <a:buChar char="•"/>
            </a:pPr>
            <a:r>
              <a:rPr lang="en-US" sz="4000">
                <a:latin typeface="Times New Roman" panose="02020603050405020304" pitchFamily="18" charset="0"/>
                <a:cs typeface="Times New Roman" panose="02020603050405020304" pitchFamily="18" charset="0"/>
              </a:rPr>
              <a:t>Quản lý nhân viên</a:t>
            </a:r>
          </a:p>
          <a:p>
            <a:pPr marL="571500" lvl="0" indent="-571500" algn="just">
              <a:buFont typeface="Arial" panose="020B0604020202020204" pitchFamily="34" charset="0"/>
              <a:buChar char="•"/>
            </a:pPr>
            <a:r>
              <a:rPr lang="en-US" sz="4000">
                <a:latin typeface="Times New Roman" panose="02020603050405020304" pitchFamily="18" charset="0"/>
                <a:cs typeface="Times New Roman" panose="02020603050405020304" pitchFamily="18" charset="0"/>
              </a:rPr>
              <a:t>Quản lý hàng hóa</a:t>
            </a:r>
          </a:p>
          <a:p>
            <a:pPr marL="571500" lvl="0" indent="-571500" algn="just">
              <a:buFont typeface="Arial" panose="020B0604020202020204" pitchFamily="34" charset="0"/>
              <a:buChar char="•"/>
            </a:pPr>
            <a:r>
              <a:rPr lang="en-US" sz="4000">
                <a:latin typeface="Times New Roman" panose="02020603050405020304" pitchFamily="18" charset="0"/>
                <a:cs typeface="Times New Roman" panose="02020603050405020304" pitchFamily="18" charset="0"/>
              </a:rPr>
              <a:t>Quản lý khách </a:t>
            </a:r>
            <a:r>
              <a:rPr lang="en-US" sz="4000" smtClean="0">
                <a:latin typeface="Times New Roman" panose="02020603050405020304" pitchFamily="18" charset="0"/>
                <a:cs typeface="Times New Roman" panose="02020603050405020304" pitchFamily="18" charset="0"/>
              </a:rPr>
              <a:t>hàng</a:t>
            </a:r>
          </a:p>
          <a:p>
            <a:pPr marL="571500" lvl="0" indent="-571500" algn="just">
              <a:buFont typeface="Arial" panose="020B0604020202020204" pitchFamily="34" charset="0"/>
              <a:buChar char="•"/>
            </a:pPr>
            <a:r>
              <a:rPr lang="en-US" sz="4000">
                <a:latin typeface="Times New Roman" panose="02020603050405020304" pitchFamily="18" charset="0"/>
                <a:cs typeface="Times New Roman" panose="02020603050405020304" pitchFamily="18" charset="0"/>
              </a:rPr>
              <a:t>Quản lý nhà cung cấp</a:t>
            </a:r>
          </a:p>
          <a:p>
            <a:pPr marL="571500" lvl="0" indent="-571500" algn="just">
              <a:buFont typeface="Arial" panose="020B0604020202020204" pitchFamily="34" charset="0"/>
              <a:buChar char="•"/>
            </a:pPr>
            <a:r>
              <a:rPr lang="en-US" sz="4000">
                <a:latin typeface="Times New Roman" panose="02020603050405020304" pitchFamily="18" charset="0"/>
                <a:cs typeface="Times New Roman" panose="02020603050405020304" pitchFamily="18" charset="0"/>
              </a:rPr>
              <a:t>Quản lí đơn đặt </a:t>
            </a:r>
            <a:r>
              <a:rPr lang="en-US" sz="4000" smtClean="0">
                <a:latin typeface="Times New Roman" panose="02020603050405020304" pitchFamily="18" charset="0"/>
                <a:cs typeface="Times New Roman" panose="02020603050405020304" pitchFamily="18" charset="0"/>
              </a:rPr>
              <a:t>hàng</a:t>
            </a:r>
          </a:p>
          <a:p>
            <a:pPr marL="571500" lvl="0" indent="-571500" algn="just">
              <a:buFont typeface="Arial" panose="020B0604020202020204" pitchFamily="34" charset="0"/>
              <a:buChar char="•"/>
            </a:pPr>
            <a:r>
              <a:rPr lang="en-US" sz="4000" smtClean="0">
                <a:latin typeface="Times New Roman" panose="02020603050405020304" pitchFamily="18" charset="0"/>
                <a:cs typeface="Times New Roman" panose="02020603050405020304" pitchFamily="18" charset="0"/>
              </a:rPr>
              <a:t>Thống </a:t>
            </a:r>
            <a:r>
              <a:rPr lang="en-US" sz="4000">
                <a:latin typeface="Times New Roman" panose="02020603050405020304" pitchFamily="18" charset="0"/>
                <a:cs typeface="Times New Roman" panose="02020603050405020304" pitchFamily="18" charset="0"/>
              </a:rPr>
              <a:t>kê doanh thu</a:t>
            </a:r>
          </a:p>
          <a:p>
            <a:pPr marL="571500" lvl="0" indent="-571500" algn="just">
              <a:buFont typeface="Arial" panose="020B0604020202020204" pitchFamily="34" charset="0"/>
              <a:buChar char="•"/>
            </a:pPr>
            <a:r>
              <a:rPr lang="en-US" sz="4000">
                <a:latin typeface="Times New Roman" panose="02020603050405020304" pitchFamily="18" charset="0"/>
                <a:cs typeface="Times New Roman" panose="02020603050405020304" pitchFamily="18" charset="0"/>
              </a:rPr>
              <a:t>Xuất hóa đơn</a:t>
            </a:r>
          </a:p>
          <a:p>
            <a:pPr marL="571500" lvl="0" indent="-571500" algn="just">
              <a:buFont typeface="Arial" panose="020B0604020202020204" pitchFamily="34" charset="0"/>
              <a:buChar char="•"/>
            </a:pPr>
            <a:endParaRPr lang="en-US" sz="4000">
              <a:latin typeface="Times New Roman" panose="02020603050405020304" pitchFamily="18" charset="0"/>
              <a:cs typeface="Times New Roman" panose="02020603050405020304" pitchFamily="18" charset="0"/>
            </a:endParaRPr>
          </a:p>
          <a:p>
            <a:pPr marL="571500" indent="-571500" algn="just">
              <a:lnSpc>
                <a:spcPts val="4857"/>
              </a:lnSpc>
              <a:spcBef>
                <a:spcPct val="0"/>
              </a:spcBef>
              <a:buFont typeface="Arial" panose="020B0604020202020204" pitchFamily="34" charset="0"/>
              <a:buChar char="•"/>
            </a:pPr>
            <a:endParaRPr lang="en-US" sz="40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anim calcmode="lin" valueType="num">
                                      <p:cBhvr>
                                        <p:cTn id="8"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 calcmode="lin" valueType="num">
                                      <p:cBhvr additive="base">
                                        <p:cTn id="14"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 calcmode="lin" valueType="num">
                                      <p:cBhvr additive="base">
                                        <p:cTn id="20"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4">
                                            <p:txEl>
                                              <p:pRg st="2" end="2"/>
                                            </p:txEl>
                                          </p:spTgt>
                                        </p:tgtEl>
                                        <p:attrNameLst>
                                          <p:attrName>style.visibility</p:attrName>
                                        </p:attrNameLst>
                                      </p:cBhvr>
                                      <p:to>
                                        <p:strVal val="visible"/>
                                      </p:to>
                                    </p:set>
                                    <p:anim calcmode="lin" valueType="num">
                                      <p:cBhvr additive="base">
                                        <p:cTn id="26"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anim calcmode="lin" valueType="num">
                                      <p:cBhvr additive="base">
                                        <p:cTn id="32"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4">
                                            <p:txEl>
                                              <p:pRg st="4" end="4"/>
                                            </p:txEl>
                                          </p:spTgt>
                                        </p:tgtEl>
                                        <p:attrNameLst>
                                          <p:attrName>style.visibility</p:attrName>
                                        </p:attrNameLst>
                                      </p:cBhvr>
                                      <p:to>
                                        <p:strVal val="visible"/>
                                      </p:to>
                                    </p:set>
                                    <p:anim calcmode="lin" valueType="num">
                                      <p:cBhvr additive="base">
                                        <p:cTn id="38"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4">
                                            <p:txEl>
                                              <p:pRg st="5" end="5"/>
                                            </p:txEl>
                                          </p:spTgt>
                                        </p:tgtEl>
                                        <p:attrNameLst>
                                          <p:attrName>style.visibility</p:attrName>
                                        </p:attrNameLst>
                                      </p:cBhvr>
                                      <p:to>
                                        <p:strVal val="visible"/>
                                      </p:to>
                                    </p:set>
                                    <p:anim calcmode="lin" valueType="num">
                                      <p:cBhvr additive="base">
                                        <p:cTn id="44"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4">
                                            <p:txEl>
                                              <p:pRg st="6" end="6"/>
                                            </p:txEl>
                                          </p:spTgt>
                                        </p:tgtEl>
                                        <p:attrNameLst>
                                          <p:attrName>style.visibility</p:attrName>
                                        </p:attrNameLst>
                                      </p:cBhvr>
                                      <p:to>
                                        <p:strVal val="visible"/>
                                      </p:to>
                                    </p:set>
                                    <p:anim calcmode="lin" valueType="num">
                                      <p:cBhvr additive="base">
                                        <p:cTn id="50"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4">
                                            <p:txEl>
                                              <p:pRg st="7" end="7"/>
                                            </p:txEl>
                                          </p:spTgt>
                                        </p:tgtEl>
                                        <p:attrNameLst>
                                          <p:attrName>style.visibility</p:attrName>
                                        </p:attrNameLst>
                                      </p:cBhvr>
                                      <p:to>
                                        <p:strVal val="visible"/>
                                      </p:to>
                                    </p:set>
                                    <p:anim calcmode="lin" valueType="num">
                                      <p:cBhvr additive="base">
                                        <p:cTn id="56"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4">
                                            <p:txEl>
                                              <p:pRg st="8" end="8"/>
                                            </p:txEl>
                                          </p:spTgt>
                                        </p:tgtEl>
                                        <p:attrNameLst>
                                          <p:attrName>style.visibility</p:attrName>
                                        </p:attrNameLst>
                                      </p:cBhvr>
                                      <p:to>
                                        <p:strVal val="visible"/>
                                      </p:to>
                                    </p:set>
                                    <p:anim calcmode="lin" valueType="num">
                                      <p:cBhvr additive="base">
                                        <p:cTn id="62"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4">
                                            <p:txEl>
                                              <p:pRg st="9" end="9"/>
                                            </p:txEl>
                                          </p:spTgt>
                                        </p:tgtEl>
                                        <p:attrNameLst>
                                          <p:attrName>style.visibility</p:attrName>
                                        </p:attrNameLst>
                                      </p:cBhvr>
                                      <p:to>
                                        <p:strVal val="visible"/>
                                      </p:to>
                                    </p:set>
                                    <p:anim calcmode="lin" valueType="num">
                                      <p:cBhvr additive="base">
                                        <p:cTn id="68"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69"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59927" y="3238500"/>
            <a:ext cx="11277600" cy="4768678"/>
          </a:xfrm>
          <a:prstGeom prst="rect">
            <a:avLst/>
          </a:prstGeom>
        </p:spPr>
        <p:txBody>
          <a:bodyPr wrap="square">
            <a:spAutoFit/>
          </a:bodyPr>
          <a:lstStyle/>
          <a:p>
            <a:pPr>
              <a:lnSpc>
                <a:spcPct val="107000"/>
              </a:lnSpc>
              <a:spcBef>
                <a:spcPts val="200"/>
              </a:spcBef>
              <a:spcAft>
                <a:spcPts val="0"/>
              </a:spcAft>
            </a:pPr>
            <a:r>
              <a:rPr lang="en-US" sz="4400" b="1" kern="100">
                <a:solidFill>
                  <a:schemeClr val="accent6">
                    <a:lumMod val="75000"/>
                  </a:schemeClr>
                </a:solidFill>
                <a:latin typeface="Times New Roman" panose="02020603050405020304" pitchFamily="18" charset="0"/>
                <a:ea typeface="Times New Roman" panose="02020603050405020304" pitchFamily="18" charset="0"/>
                <a:cs typeface="Times New Roman" panose="02020603050405020304" pitchFamily="18" charset="0"/>
              </a:rPr>
              <a:t>Phạm vi đồ án</a:t>
            </a:r>
          </a:p>
          <a:p>
            <a:pPr algn="just">
              <a:lnSpc>
                <a:spcPct val="107000"/>
              </a:lnSpc>
              <a:spcAft>
                <a:spcPts val="800"/>
              </a:spcAft>
            </a:pPr>
            <a:r>
              <a:rPr lang="en-US" sz="4000" i="1" kern="100">
                <a:solidFill>
                  <a:srgbClr val="000000"/>
                </a:solidFill>
                <a:latin typeface="Times New Roman" panose="02020603050405020304" pitchFamily="18" charset="0"/>
                <a:ea typeface="Helvetica" panose="020B0604020202020204" pitchFamily="34" charset="0"/>
                <a:cs typeface="Times New Roman" panose="02020603050405020304" pitchFamily="18" charset="0"/>
              </a:rPr>
              <a:t>Phạm vi quay quanh các nghiệp vụ cửa hàng, tuân theo nghiệp vụ quản lý</a:t>
            </a:r>
            <a:r>
              <a:rPr lang="en-US" sz="4000" kern="100">
                <a:latin typeface="Times New Roman" panose="02020603050405020304" pitchFamily="18" charset="0"/>
                <a:ea typeface="Calibri" panose="020F0502020204030204" pitchFamily="34" charset="0"/>
                <a:cs typeface="Times New Roman" panose="02020603050405020304" pitchFamily="18" charset="0"/>
              </a:rPr>
              <a:t> văn phòng phẩm</a:t>
            </a:r>
            <a:r>
              <a:rPr lang="en-US" sz="4000" i="1" kern="100">
                <a:solidFill>
                  <a:srgbClr val="000000"/>
                </a:solidFill>
                <a:latin typeface="Times New Roman" panose="02020603050405020304" pitchFamily="18" charset="0"/>
                <a:ea typeface="Helvetica" panose="020B0604020202020204" pitchFamily="34" charset="0"/>
                <a:cs typeface="Times New Roman" panose="02020603050405020304" pitchFamily="18" charset="0"/>
              </a:rPr>
              <a:t>, đảm bảo đầy đủ các chức năng chính của phần mềm và khai thác các chức năng mới có liên quan đến quản lý </a:t>
            </a:r>
            <a:r>
              <a:rPr lang="en-US" sz="4000" kern="100">
                <a:latin typeface="Times New Roman" panose="02020603050405020304" pitchFamily="18" charset="0"/>
                <a:ea typeface="Calibri" panose="020F0502020204030204" pitchFamily="34" charset="0"/>
                <a:cs typeface="Times New Roman" panose="02020603050405020304" pitchFamily="18" charset="0"/>
              </a:rPr>
              <a:t>văn phòng phẩm</a:t>
            </a:r>
            <a:r>
              <a:rPr lang="en-US" sz="4000" i="1" kern="100">
                <a:solidFill>
                  <a:srgbClr val="000000"/>
                </a:solidFill>
                <a:latin typeface="Times New Roman" panose="02020603050405020304" pitchFamily="18" charset="0"/>
                <a:ea typeface="Helvetica" panose="020B0604020202020204" pitchFamily="34" charset="0"/>
                <a:cs typeface="Times New Roman" panose="02020603050405020304" pitchFamily="18" charset="0"/>
              </a:rPr>
              <a:t>, Nhằm giúp cho phần mềm có thêm phần tiện ích.</a:t>
            </a:r>
            <a:endParaRPr lang="en-US" sz="4000" kern="1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Freeform 8"/>
          <p:cNvSpPr/>
          <p:nvPr/>
        </p:nvSpPr>
        <p:spPr>
          <a:xfrm>
            <a:off x="15145199" y="449179"/>
            <a:ext cx="2037234" cy="1468147"/>
          </a:xfrm>
          <a:custGeom>
            <a:avLst/>
            <a:gdLst/>
            <a:ahLst/>
            <a:cxnLst/>
            <a:rect l="l" t="t" r="r" b="b"/>
            <a:pathLst>
              <a:path w="2037234" h="1468147">
                <a:moveTo>
                  <a:pt x="0" y="0"/>
                </a:moveTo>
                <a:lnTo>
                  <a:pt x="2037234" y="0"/>
                </a:lnTo>
                <a:lnTo>
                  <a:pt x="2037234" y="1468147"/>
                </a:lnTo>
                <a:lnTo>
                  <a:pt x="0" y="1468147"/>
                </a:lnTo>
                <a:lnTo>
                  <a:pt x="0" y="0"/>
                </a:lnTo>
                <a:close/>
              </a:path>
            </a:pathLst>
          </a:custGeom>
          <a:blipFill>
            <a:blip r:embed="rId2"/>
            <a:stretch>
              <a:fillRect/>
            </a:stretch>
          </a:blipFill>
        </p:spPr>
      </p:sp>
      <p:sp>
        <p:nvSpPr>
          <p:cNvPr id="4" name="Freeform 2"/>
          <p:cNvSpPr/>
          <p:nvPr/>
        </p:nvSpPr>
        <p:spPr>
          <a:xfrm rot="-1432890">
            <a:off x="15633874" y="2828175"/>
            <a:ext cx="1525575" cy="1332871"/>
          </a:xfrm>
          <a:custGeom>
            <a:avLst/>
            <a:gdLst/>
            <a:ahLst/>
            <a:cxnLst/>
            <a:rect l="l" t="t" r="r" b="b"/>
            <a:pathLst>
              <a:path w="1525575" h="1332871">
                <a:moveTo>
                  <a:pt x="0" y="0"/>
                </a:moveTo>
                <a:lnTo>
                  <a:pt x="1525575" y="0"/>
                </a:lnTo>
                <a:lnTo>
                  <a:pt x="1525575" y="1332871"/>
                </a:lnTo>
                <a:lnTo>
                  <a:pt x="0" y="1332871"/>
                </a:lnTo>
                <a:lnTo>
                  <a:pt x="0" y="0"/>
                </a:lnTo>
                <a:close/>
              </a:path>
            </a:pathLst>
          </a:custGeom>
          <a:blipFill>
            <a:blip r:embed="rId3"/>
            <a:stretch>
              <a:fillRect/>
            </a:stretch>
          </a:blipFill>
        </p:spPr>
      </p:sp>
      <p:sp>
        <p:nvSpPr>
          <p:cNvPr id="5" name="Freeform 10"/>
          <p:cNvSpPr/>
          <p:nvPr/>
        </p:nvSpPr>
        <p:spPr>
          <a:xfrm rot="-2846079">
            <a:off x="1317641" y="8238854"/>
            <a:ext cx="930350" cy="882971"/>
          </a:xfrm>
          <a:custGeom>
            <a:avLst/>
            <a:gdLst/>
            <a:ahLst/>
            <a:cxnLst/>
            <a:rect l="l" t="t" r="r" b="b"/>
            <a:pathLst>
              <a:path w="930350" h="882971">
                <a:moveTo>
                  <a:pt x="0" y="0"/>
                </a:moveTo>
                <a:lnTo>
                  <a:pt x="930349" y="0"/>
                </a:lnTo>
                <a:lnTo>
                  <a:pt x="930349" y="882971"/>
                </a:lnTo>
                <a:lnTo>
                  <a:pt x="0" y="882971"/>
                </a:lnTo>
                <a:lnTo>
                  <a:pt x="0" y="0"/>
                </a:lnTo>
                <a:close/>
              </a:path>
            </a:pathLst>
          </a:custGeom>
          <a:blipFill>
            <a:blip r:embed="rId4"/>
            <a:stretch>
              <a:fillRect/>
            </a:stretch>
          </a:blipFill>
        </p:spPr>
      </p:sp>
      <p:sp>
        <p:nvSpPr>
          <p:cNvPr id="6" name="Freeform 7"/>
          <p:cNvSpPr/>
          <p:nvPr/>
        </p:nvSpPr>
        <p:spPr>
          <a:xfrm>
            <a:off x="913377" y="1886600"/>
            <a:ext cx="1738878" cy="1901456"/>
          </a:xfrm>
          <a:custGeom>
            <a:avLst/>
            <a:gdLst/>
            <a:ahLst/>
            <a:cxnLst/>
            <a:rect l="l" t="t" r="r" b="b"/>
            <a:pathLst>
              <a:path w="1738878" h="1901456">
                <a:moveTo>
                  <a:pt x="0" y="0"/>
                </a:moveTo>
                <a:lnTo>
                  <a:pt x="1738878" y="0"/>
                </a:lnTo>
                <a:lnTo>
                  <a:pt x="1738878" y="1901457"/>
                </a:lnTo>
                <a:lnTo>
                  <a:pt x="0" y="1901457"/>
                </a:lnTo>
                <a:lnTo>
                  <a:pt x="0" y="0"/>
                </a:lnTo>
                <a:close/>
              </a:path>
            </a:pathLst>
          </a:custGeom>
          <a:blipFill>
            <a:blip r:embed="rId5"/>
            <a:stretch>
              <a:fillRect/>
            </a:stretch>
          </a:blipFill>
        </p:spPr>
      </p:sp>
      <p:sp>
        <p:nvSpPr>
          <p:cNvPr id="7" name="Freeform 9"/>
          <p:cNvSpPr/>
          <p:nvPr/>
        </p:nvSpPr>
        <p:spPr>
          <a:xfrm rot="7925507">
            <a:off x="6276150" y="212311"/>
            <a:ext cx="1525575" cy="1332871"/>
          </a:xfrm>
          <a:custGeom>
            <a:avLst/>
            <a:gdLst/>
            <a:ahLst/>
            <a:cxnLst/>
            <a:rect l="l" t="t" r="r" b="b"/>
            <a:pathLst>
              <a:path w="1525575" h="1332871">
                <a:moveTo>
                  <a:pt x="0" y="0"/>
                </a:moveTo>
                <a:lnTo>
                  <a:pt x="1525574" y="0"/>
                </a:lnTo>
                <a:lnTo>
                  <a:pt x="1525574" y="1332871"/>
                </a:lnTo>
                <a:lnTo>
                  <a:pt x="0" y="1332871"/>
                </a:lnTo>
                <a:lnTo>
                  <a:pt x="0" y="0"/>
                </a:lnTo>
                <a:close/>
              </a:path>
            </a:pathLst>
          </a:custGeom>
          <a:blipFill>
            <a:blip r:embed="rId3"/>
            <a:stretch>
              <a:fillRect/>
            </a:stretch>
          </a:blipFill>
        </p:spPr>
      </p:sp>
    </p:spTree>
    <p:extLst>
      <p:ext uri="{BB962C8B-B14F-4D97-AF65-F5344CB8AC3E}">
        <p14:creationId xmlns:p14="http://schemas.microsoft.com/office/powerpoint/2010/main" val="163269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7E8083"/>
        </a:solidFill>
        <a:effectLst/>
      </p:bgPr>
    </p:bg>
    <p:spTree>
      <p:nvGrpSpPr>
        <p:cNvPr id="1" name=""/>
        <p:cNvGrpSpPr/>
        <p:nvPr/>
      </p:nvGrpSpPr>
      <p:grpSpPr>
        <a:xfrm>
          <a:off x="0" y="0"/>
          <a:ext cx="0" cy="0"/>
          <a:chOff x="0" y="0"/>
          <a:chExt cx="0" cy="0"/>
        </a:xfrm>
      </p:grpSpPr>
      <p:sp>
        <p:nvSpPr>
          <p:cNvPr id="2" name="Freeform 2"/>
          <p:cNvSpPr/>
          <p:nvPr/>
        </p:nvSpPr>
        <p:spPr>
          <a:xfrm rot="-5400000">
            <a:off x="-163714" y="2786924"/>
            <a:ext cx="8229600" cy="4713151"/>
          </a:xfrm>
          <a:custGeom>
            <a:avLst/>
            <a:gdLst/>
            <a:ahLst/>
            <a:cxnLst/>
            <a:rect l="l" t="t" r="r" b="b"/>
            <a:pathLst>
              <a:path w="8229600" h="4713151">
                <a:moveTo>
                  <a:pt x="0" y="0"/>
                </a:moveTo>
                <a:lnTo>
                  <a:pt x="8229600" y="0"/>
                </a:lnTo>
                <a:lnTo>
                  <a:pt x="8229600" y="4713152"/>
                </a:lnTo>
                <a:lnTo>
                  <a:pt x="0" y="4713152"/>
                </a:lnTo>
                <a:lnTo>
                  <a:pt x="0" y="0"/>
                </a:lnTo>
                <a:close/>
              </a:path>
            </a:pathLst>
          </a:custGeom>
          <a:blipFill>
            <a:blip r:embed="rId2"/>
            <a:stretch>
              <a:fillRect t="-16551"/>
            </a:stretch>
          </a:blipFill>
        </p:spPr>
      </p:sp>
      <p:sp>
        <p:nvSpPr>
          <p:cNvPr id="3" name="Freeform 3"/>
          <p:cNvSpPr/>
          <p:nvPr/>
        </p:nvSpPr>
        <p:spPr>
          <a:xfrm>
            <a:off x="3029912" y="1028700"/>
            <a:ext cx="2037234" cy="1468147"/>
          </a:xfrm>
          <a:custGeom>
            <a:avLst/>
            <a:gdLst/>
            <a:ahLst/>
            <a:cxnLst/>
            <a:rect l="l" t="t" r="r" b="b"/>
            <a:pathLst>
              <a:path w="2037234" h="1468147">
                <a:moveTo>
                  <a:pt x="0" y="0"/>
                </a:moveTo>
                <a:lnTo>
                  <a:pt x="2037234" y="0"/>
                </a:lnTo>
                <a:lnTo>
                  <a:pt x="2037234" y="1468147"/>
                </a:lnTo>
                <a:lnTo>
                  <a:pt x="0" y="1468147"/>
                </a:lnTo>
                <a:lnTo>
                  <a:pt x="0" y="0"/>
                </a:lnTo>
                <a:close/>
              </a:path>
            </a:pathLst>
          </a:custGeom>
          <a:blipFill>
            <a:blip r:embed="rId3"/>
            <a:stretch>
              <a:fillRect/>
            </a:stretch>
          </a:blipFill>
        </p:spPr>
      </p:sp>
      <p:sp>
        <p:nvSpPr>
          <p:cNvPr id="4" name="Freeform 4"/>
          <p:cNvSpPr/>
          <p:nvPr/>
        </p:nvSpPr>
        <p:spPr>
          <a:xfrm rot="7729394">
            <a:off x="1666799" y="7318193"/>
            <a:ext cx="1181415" cy="1032184"/>
          </a:xfrm>
          <a:custGeom>
            <a:avLst/>
            <a:gdLst/>
            <a:ahLst/>
            <a:cxnLst/>
            <a:rect l="l" t="t" r="r" b="b"/>
            <a:pathLst>
              <a:path w="1181415" h="1032184">
                <a:moveTo>
                  <a:pt x="0" y="0"/>
                </a:moveTo>
                <a:lnTo>
                  <a:pt x="1181415" y="0"/>
                </a:lnTo>
                <a:lnTo>
                  <a:pt x="1181415" y="1032184"/>
                </a:lnTo>
                <a:lnTo>
                  <a:pt x="0" y="1032184"/>
                </a:lnTo>
                <a:lnTo>
                  <a:pt x="0" y="0"/>
                </a:lnTo>
                <a:close/>
              </a:path>
            </a:pathLst>
          </a:custGeom>
          <a:blipFill>
            <a:blip r:embed="rId4"/>
            <a:stretch>
              <a:fillRect/>
            </a:stretch>
          </a:blipFill>
        </p:spPr>
      </p:sp>
      <p:sp>
        <p:nvSpPr>
          <p:cNvPr id="5" name="Freeform 5"/>
          <p:cNvSpPr/>
          <p:nvPr/>
        </p:nvSpPr>
        <p:spPr>
          <a:xfrm rot="-5258646">
            <a:off x="1088930" y="4187770"/>
            <a:ext cx="1464004" cy="1525575"/>
          </a:xfrm>
          <a:custGeom>
            <a:avLst/>
            <a:gdLst/>
            <a:ahLst/>
            <a:cxnLst/>
            <a:rect l="l" t="t" r="r" b="b"/>
            <a:pathLst>
              <a:path w="1464004" h="1525575">
                <a:moveTo>
                  <a:pt x="0" y="0"/>
                </a:moveTo>
                <a:lnTo>
                  <a:pt x="1464005" y="0"/>
                </a:lnTo>
                <a:lnTo>
                  <a:pt x="1464005" y="1525575"/>
                </a:lnTo>
                <a:lnTo>
                  <a:pt x="0" y="1525575"/>
                </a:lnTo>
                <a:lnTo>
                  <a:pt x="0" y="0"/>
                </a:lnTo>
                <a:close/>
              </a:path>
            </a:pathLst>
          </a:custGeom>
          <a:blipFill>
            <a:blip r:embed="rId5"/>
            <a:stretch>
              <a:fillRect/>
            </a:stretch>
          </a:blipFill>
        </p:spPr>
      </p:sp>
      <p:grpSp>
        <p:nvGrpSpPr>
          <p:cNvPr id="6" name="Group 6"/>
          <p:cNvGrpSpPr/>
          <p:nvPr/>
        </p:nvGrpSpPr>
        <p:grpSpPr>
          <a:xfrm>
            <a:off x="7696200" y="4156049"/>
            <a:ext cx="9922122" cy="3270637"/>
            <a:chOff x="-1350102" y="-525288"/>
            <a:chExt cx="13229496" cy="4360849"/>
          </a:xfrm>
        </p:grpSpPr>
        <p:sp>
          <p:nvSpPr>
            <p:cNvPr id="7" name="TextBox 7"/>
            <p:cNvSpPr txBox="1"/>
            <p:nvPr/>
          </p:nvSpPr>
          <p:spPr>
            <a:xfrm>
              <a:off x="-1350102" y="-525288"/>
              <a:ext cx="13229496" cy="2633200"/>
            </a:xfrm>
            <a:prstGeom prst="rect">
              <a:avLst/>
            </a:prstGeom>
          </p:spPr>
          <p:txBody>
            <a:bodyPr wrap="square" lIns="0" tIns="0" rIns="0" bIns="0" rtlCol="0" anchor="t">
              <a:spAutoFit/>
            </a:bodyPr>
            <a:lstStyle/>
            <a:p>
              <a:pPr>
                <a:lnSpc>
                  <a:spcPts val="7687"/>
                </a:lnSpc>
                <a:spcBef>
                  <a:spcPct val="0"/>
                </a:spcBef>
              </a:pPr>
              <a:r>
                <a:rPr lang="en-US" sz="6500" b="1" dirty="0">
                  <a:solidFill>
                    <a:srgbClr val="F3F3F3"/>
                  </a:solidFill>
                  <a:latin typeface="Times New Roman" panose="02020603050405020304" pitchFamily="18" charset="0"/>
                  <a:cs typeface="Times New Roman" panose="02020603050405020304" pitchFamily="18" charset="0"/>
                </a:rPr>
                <a:t>PHÂN TÍCH THIẾT </a:t>
              </a:r>
              <a:r>
                <a:rPr lang="en-US" sz="6500" b="1" dirty="0" smtClean="0">
                  <a:solidFill>
                    <a:srgbClr val="F3F3F3"/>
                  </a:solidFill>
                  <a:latin typeface="Times New Roman" panose="02020603050405020304" pitchFamily="18" charset="0"/>
                  <a:cs typeface="Times New Roman" panose="02020603050405020304" pitchFamily="18" charset="0"/>
                </a:rPr>
                <a:t>KẾ CSDL</a:t>
              </a:r>
              <a:endParaRPr lang="en-US" sz="6500" b="1" dirty="0">
                <a:solidFill>
                  <a:srgbClr val="F3F3F3"/>
                </a:solidFill>
                <a:latin typeface="Times New Roman" panose="02020603050405020304" pitchFamily="18" charset="0"/>
                <a:cs typeface="Times New Roman" panose="02020603050405020304" pitchFamily="18" charset="0"/>
              </a:endParaRPr>
            </a:p>
          </p:txBody>
        </p:sp>
        <p:sp>
          <p:nvSpPr>
            <p:cNvPr id="8" name="TextBox 8"/>
            <p:cNvSpPr txBox="1"/>
            <p:nvPr/>
          </p:nvSpPr>
          <p:spPr>
            <a:xfrm>
              <a:off x="0" y="3317878"/>
              <a:ext cx="8362819" cy="517683"/>
            </a:xfrm>
            <a:prstGeom prst="rect">
              <a:avLst/>
            </a:prstGeom>
          </p:spPr>
          <p:txBody>
            <a:bodyPr lIns="0" tIns="0" rIns="0" bIns="0" rtlCol="0" anchor="t">
              <a:spAutoFit/>
            </a:bodyPr>
            <a:lstStyle/>
            <a:p>
              <a:pPr marL="0" lvl="0" indent="0">
                <a:lnSpc>
                  <a:spcPts val="3359"/>
                </a:lnSpc>
              </a:pPr>
              <a:r>
                <a:rPr lang="en-US" sz="2400" spc="31">
                  <a:solidFill>
                    <a:srgbClr val="F3F3F3"/>
                  </a:solidFill>
                  <a:latin typeface="Arimo"/>
                </a:rPr>
                <a:t> </a:t>
              </a:r>
            </a:p>
          </p:txBody>
        </p:sp>
      </p:grpSp>
      <p:sp>
        <p:nvSpPr>
          <p:cNvPr id="9" name="TextBox 9"/>
          <p:cNvSpPr txBox="1"/>
          <p:nvPr/>
        </p:nvSpPr>
        <p:spPr>
          <a:xfrm>
            <a:off x="11201400" y="2537374"/>
            <a:ext cx="1794078" cy="1422400"/>
          </a:xfrm>
          <a:prstGeom prst="rect">
            <a:avLst/>
          </a:prstGeom>
        </p:spPr>
        <p:txBody>
          <a:bodyPr lIns="0" tIns="0" rIns="0" bIns="0" rtlCol="0" anchor="t">
            <a:spAutoFit/>
          </a:bodyPr>
          <a:lstStyle/>
          <a:p>
            <a:pPr marL="0" lvl="0" indent="0" algn="ctr">
              <a:lnSpc>
                <a:spcPts val="10999"/>
              </a:lnSpc>
              <a:spcBef>
                <a:spcPct val="0"/>
              </a:spcBef>
            </a:pPr>
            <a:r>
              <a:rPr lang="en-US" sz="9999" dirty="0">
                <a:solidFill>
                  <a:srgbClr val="F3F3F3"/>
                </a:solidFill>
                <a:latin typeface="Clear Sans Bold"/>
              </a:rPr>
              <a:t>02</a:t>
            </a:r>
          </a:p>
        </p:txBody>
      </p:sp>
      <p:sp>
        <p:nvSpPr>
          <p:cNvPr id="10" name="AutoShape 2" descr="Hệ quản trị cơ sở dữ liệu là gì? Vai trò của hệ quản trị cơ sở dữ liệu"/>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96200" y="6130949"/>
            <a:ext cx="8839200" cy="3889351"/>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28"/>
                                        </p:tgtEl>
                                        <p:attrNameLst>
                                          <p:attrName>style.visibility</p:attrName>
                                        </p:attrNameLst>
                                      </p:cBhvr>
                                      <p:to>
                                        <p:strVal val="visible"/>
                                      </p:to>
                                    </p:set>
                                    <p:anim calcmode="lin" valueType="num">
                                      <p:cBhvr additive="base">
                                        <p:cTn id="15" dur="500" fill="hold"/>
                                        <p:tgtEl>
                                          <p:spTgt spid="1028"/>
                                        </p:tgtEl>
                                        <p:attrNameLst>
                                          <p:attrName>ppt_x</p:attrName>
                                        </p:attrNameLst>
                                      </p:cBhvr>
                                      <p:tavLst>
                                        <p:tav tm="0">
                                          <p:val>
                                            <p:strVal val="#ppt_x"/>
                                          </p:val>
                                        </p:tav>
                                        <p:tav tm="100000">
                                          <p:val>
                                            <p:strVal val="#ppt_x"/>
                                          </p:val>
                                        </p:tav>
                                      </p:tavLst>
                                    </p:anim>
                                    <p:anim calcmode="lin" valueType="num">
                                      <p:cBhvr additive="base">
                                        <p:cTn id="16"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
        <p:cNvGrpSpPr/>
        <p:nvPr/>
      </p:nvGrpSpPr>
      <p:grpSpPr>
        <a:xfrm>
          <a:off x="0" y="0"/>
          <a:ext cx="0" cy="0"/>
          <a:chOff x="0" y="0"/>
          <a:chExt cx="0" cy="0"/>
        </a:xfrm>
      </p:grpSpPr>
      <p:grpSp>
        <p:nvGrpSpPr>
          <p:cNvPr id="2" name="Group 2"/>
          <p:cNvGrpSpPr/>
          <p:nvPr/>
        </p:nvGrpSpPr>
        <p:grpSpPr>
          <a:xfrm>
            <a:off x="2784300" y="-80387"/>
            <a:ext cx="14111154" cy="5223887"/>
            <a:chOff x="17220" y="-2386983"/>
            <a:chExt cx="18814872" cy="6965183"/>
          </a:xfrm>
        </p:grpSpPr>
        <p:sp>
          <p:nvSpPr>
            <p:cNvPr id="3" name="TextBox 3"/>
            <p:cNvSpPr txBox="1"/>
            <p:nvPr/>
          </p:nvSpPr>
          <p:spPr>
            <a:xfrm>
              <a:off x="17220" y="-2386983"/>
              <a:ext cx="18814872" cy="1731243"/>
            </a:xfrm>
            <a:prstGeom prst="rect">
              <a:avLst/>
            </a:prstGeom>
          </p:spPr>
          <p:txBody>
            <a:bodyPr lIns="0" tIns="0" rIns="0" bIns="0" rtlCol="0" anchor="t">
              <a:spAutoFit/>
            </a:bodyPr>
            <a:lstStyle/>
            <a:p>
              <a:pPr marL="0" lvl="0" indent="0" algn="ctr">
                <a:lnSpc>
                  <a:spcPts val="11000"/>
                </a:lnSpc>
                <a:spcBef>
                  <a:spcPct val="0"/>
                </a:spcBef>
              </a:pPr>
              <a:r>
                <a:rPr lang="en-US" sz="8000" b="1" smtClean="0">
                  <a:solidFill>
                    <a:srgbClr val="000000"/>
                  </a:solidFill>
                  <a:latin typeface="Times New Roman" panose="02020603050405020304" pitchFamily="18" charset="0"/>
                  <a:cs typeface="Times New Roman" panose="02020603050405020304" pitchFamily="18" charset="0"/>
                </a:rPr>
                <a:t>DATABASE DIAGRAMS</a:t>
              </a:r>
              <a:endParaRPr lang="en-US" sz="8000" b="1" dirty="0">
                <a:solidFill>
                  <a:srgbClr val="000000"/>
                </a:solidFill>
                <a:latin typeface="Times New Roman" panose="02020603050405020304" pitchFamily="18" charset="0"/>
                <a:cs typeface="Times New Roman" panose="02020603050405020304" pitchFamily="18" charset="0"/>
              </a:endParaRPr>
            </a:p>
          </p:txBody>
        </p:sp>
        <p:sp>
          <p:nvSpPr>
            <p:cNvPr id="4" name="TextBox 4"/>
            <p:cNvSpPr txBox="1"/>
            <p:nvPr/>
          </p:nvSpPr>
          <p:spPr>
            <a:xfrm>
              <a:off x="3082654" y="2264458"/>
              <a:ext cx="12649565" cy="819490"/>
            </a:xfrm>
            <a:prstGeom prst="rect">
              <a:avLst/>
            </a:prstGeom>
          </p:spPr>
          <p:txBody>
            <a:bodyPr lIns="0" tIns="0" rIns="0" bIns="0" rtlCol="0" anchor="t">
              <a:spAutoFit/>
            </a:bodyPr>
            <a:lstStyle/>
            <a:p>
              <a:pPr algn="ctr">
                <a:lnSpc>
                  <a:spcPts val="5039"/>
                </a:lnSpc>
                <a:spcBef>
                  <a:spcPct val="0"/>
                </a:spcBef>
              </a:pPr>
              <a:endParaRPr/>
            </a:p>
          </p:txBody>
        </p:sp>
        <p:sp>
          <p:nvSpPr>
            <p:cNvPr id="5" name="TextBox 5"/>
            <p:cNvSpPr txBox="1"/>
            <p:nvPr/>
          </p:nvSpPr>
          <p:spPr>
            <a:xfrm>
              <a:off x="3082654" y="4060517"/>
              <a:ext cx="12649565" cy="517683"/>
            </a:xfrm>
            <a:prstGeom prst="rect">
              <a:avLst/>
            </a:prstGeom>
          </p:spPr>
          <p:txBody>
            <a:bodyPr lIns="0" tIns="0" rIns="0" bIns="0" rtlCol="0" anchor="t">
              <a:spAutoFit/>
            </a:bodyPr>
            <a:lstStyle/>
            <a:p>
              <a:pPr marL="0" lvl="0" indent="0" algn="ctr">
                <a:lnSpc>
                  <a:spcPts val="3359"/>
                </a:lnSpc>
              </a:pPr>
              <a:endParaRPr/>
            </a:p>
          </p:txBody>
        </p:sp>
      </p:grpSp>
      <p:sp>
        <p:nvSpPr>
          <p:cNvPr id="6" name="Freeform 6"/>
          <p:cNvSpPr/>
          <p:nvPr/>
        </p:nvSpPr>
        <p:spPr>
          <a:xfrm>
            <a:off x="-1117328" y="-790402"/>
            <a:ext cx="3223648" cy="3735639"/>
          </a:xfrm>
          <a:custGeom>
            <a:avLst/>
            <a:gdLst/>
            <a:ahLst/>
            <a:cxnLst/>
            <a:rect l="l" t="t" r="r" b="b"/>
            <a:pathLst>
              <a:path w="3223648" h="3735639">
                <a:moveTo>
                  <a:pt x="0" y="0"/>
                </a:moveTo>
                <a:lnTo>
                  <a:pt x="3223648" y="0"/>
                </a:lnTo>
                <a:lnTo>
                  <a:pt x="3223648" y="3735639"/>
                </a:lnTo>
                <a:lnTo>
                  <a:pt x="0" y="3735639"/>
                </a:lnTo>
                <a:lnTo>
                  <a:pt x="0" y="0"/>
                </a:lnTo>
                <a:close/>
              </a:path>
            </a:pathLst>
          </a:custGeom>
          <a:blipFill>
            <a:blip r:embed="rId2"/>
            <a:stretch>
              <a:fillRect/>
            </a:stretch>
          </a:blipFill>
        </p:spPr>
      </p:sp>
      <p:sp>
        <p:nvSpPr>
          <p:cNvPr id="7" name="Freeform 7"/>
          <p:cNvSpPr/>
          <p:nvPr/>
        </p:nvSpPr>
        <p:spPr>
          <a:xfrm rot="122722">
            <a:off x="271786" y="612605"/>
            <a:ext cx="2476725" cy="1325983"/>
          </a:xfrm>
          <a:custGeom>
            <a:avLst/>
            <a:gdLst/>
            <a:ahLst/>
            <a:cxnLst/>
            <a:rect l="l" t="t" r="r" b="b"/>
            <a:pathLst>
              <a:path w="2476725" h="1325983">
                <a:moveTo>
                  <a:pt x="0" y="0"/>
                </a:moveTo>
                <a:lnTo>
                  <a:pt x="2476725" y="0"/>
                </a:lnTo>
                <a:lnTo>
                  <a:pt x="2476725" y="1325982"/>
                </a:lnTo>
                <a:lnTo>
                  <a:pt x="0" y="1325982"/>
                </a:lnTo>
                <a:lnTo>
                  <a:pt x="0" y="0"/>
                </a:lnTo>
                <a:close/>
              </a:path>
            </a:pathLst>
          </a:custGeom>
          <a:blipFill>
            <a:blip r:embed="rId3"/>
            <a:stretch>
              <a:fillRect/>
            </a:stretch>
          </a:blipFill>
        </p:spPr>
      </p:sp>
      <p:sp>
        <p:nvSpPr>
          <p:cNvPr id="8" name="Freeform 8"/>
          <p:cNvSpPr/>
          <p:nvPr/>
        </p:nvSpPr>
        <p:spPr>
          <a:xfrm>
            <a:off x="14957545" y="7086166"/>
            <a:ext cx="8765490" cy="5065179"/>
          </a:xfrm>
          <a:custGeom>
            <a:avLst/>
            <a:gdLst/>
            <a:ahLst/>
            <a:cxnLst/>
            <a:rect l="l" t="t" r="r" b="b"/>
            <a:pathLst>
              <a:path w="8765490" h="5065179">
                <a:moveTo>
                  <a:pt x="0" y="0"/>
                </a:moveTo>
                <a:lnTo>
                  <a:pt x="8765490" y="0"/>
                </a:lnTo>
                <a:lnTo>
                  <a:pt x="8765490" y="5065179"/>
                </a:lnTo>
                <a:lnTo>
                  <a:pt x="0" y="5065179"/>
                </a:lnTo>
                <a:lnTo>
                  <a:pt x="0" y="0"/>
                </a:lnTo>
                <a:close/>
              </a:path>
            </a:pathLst>
          </a:custGeom>
          <a:blipFill>
            <a:blip r:embed="rId4"/>
            <a:stretch>
              <a:fillRect/>
            </a:stretch>
          </a:blipFill>
        </p:spPr>
      </p:sp>
      <p:pic>
        <p:nvPicPr>
          <p:cNvPr id="9" name="Picture 8"/>
          <p:cNvPicPr>
            <a:picLocks noChangeAspect="1"/>
          </p:cNvPicPr>
          <p:nvPr/>
        </p:nvPicPr>
        <p:blipFill>
          <a:blip r:embed="rId5"/>
          <a:stretch>
            <a:fillRect/>
          </a:stretch>
        </p:blipFill>
        <p:spPr>
          <a:xfrm>
            <a:off x="1371600" y="982161"/>
            <a:ext cx="16092052" cy="9304839"/>
          </a:xfrm>
          <a:prstGeom prst="rect">
            <a:avLst/>
          </a:prstGeom>
        </p:spPr>
      </p:pic>
    </p:spTree>
    <p:extLst>
      <p:ext uri="{BB962C8B-B14F-4D97-AF65-F5344CB8AC3E}">
        <p14:creationId xmlns:p14="http://schemas.microsoft.com/office/powerpoint/2010/main" val="816960839"/>
      </p:ext>
    </p:extLst>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71600" y="1429108"/>
            <a:ext cx="15240000" cy="8887388"/>
          </a:xfrm>
          <a:prstGeom prst="rect">
            <a:avLst/>
          </a:prstGeom>
        </p:spPr>
      </p:pic>
    </p:spTree>
    <p:extLst>
      <p:ext uri="{BB962C8B-B14F-4D97-AF65-F5344CB8AC3E}">
        <p14:creationId xmlns:p14="http://schemas.microsoft.com/office/powerpoint/2010/main" val="2944605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7E8083"/>
        </a:solidFill>
        <a:effectLst/>
      </p:bgPr>
    </p:bg>
    <p:spTree>
      <p:nvGrpSpPr>
        <p:cNvPr id="1" name=""/>
        <p:cNvGrpSpPr/>
        <p:nvPr/>
      </p:nvGrpSpPr>
      <p:grpSpPr>
        <a:xfrm>
          <a:off x="0" y="0"/>
          <a:ext cx="0" cy="0"/>
          <a:chOff x="0" y="0"/>
          <a:chExt cx="0" cy="0"/>
        </a:xfrm>
      </p:grpSpPr>
      <p:grpSp>
        <p:nvGrpSpPr>
          <p:cNvPr id="2" name="Group 2"/>
          <p:cNvGrpSpPr/>
          <p:nvPr/>
        </p:nvGrpSpPr>
        <p:grpSpPr>
          <a:xfrm>
            <a:off x="9144000" y="3795713"/>
            <a:ext cx="8572500" cy="2954630"/>
            <a:chOff x="0" y="-339776"/>
            <a:chExt cx="11430000" cy="3939507"/>
          </a:xfrm>
        </p:grpSpPr>
        <p:sp>
          <p:nvSpPr>
            <p:cNvPr id="3" name="TextBox 3"/>
            <p:cNvSpPr txBox="1"/>
            <p:nvPr/>
          </p:nvSpPr>
          <p:spPr>
            <a:xfrm>
              <a:off x="609600" y="-339776"/>
              <a:ext cx="10820400" cy="1397819"/>
            </a:xfrm>
            <a:prstGeom prst="rect">
              <a:avLst/>
            </a:prstGeom>
          </p:spPr>
          <p:txBody>
            <a:bodyPr lIns="0" tIns="0" rIns="0" bIns="0" rtlCol="0" anchor="t">
              <a:spAutoFit/>
            </a:bodyPr>
            <a:lstStyle/>
            <a:p>
              <a:pPr algn="ctr">
                <a:lnSpc>
                  <a:spcPts val="7871"/>
                </a:lnSpc>
                <a:spcBef>
                  <a:spcPct val="0"/>
                </a:spcBef>
              </a:pPr>
              <a:r>
                <a:rPr lang="en-US" sz="9600" b="1" smtClean="0">
                  <a:solidFill>
                    <a:srgbClr val="F3F3F3"/>
                  </a:solidFill>
                  <a:latin typeface="Times New Roman" panose="02020603050405020304" pitchFamily="18" charset="0"/>
                  <a:cs typeface="Times New Roman" panose="02020603050405020304" pitchFamily="18" charset="0"/>
                </a:rPr>
                <a:t>Demo</a:t>
              </a:r>
              <a:endParaRPr lang="en-US" sz="9600" b="1" dirty="0">
                <a:solidFill>
                  <a:srgbClr val="F3F3F3"/>
                </a:solidFill>
                <a:latin typeface="Times New Roman" panose="02020603050405020304" pitchFamily="18" charset="0"/>
                <a:cs typeface="Times New Roman" panose="02020603050405020304" pitchFamily="18" charset="0"/>
              </a:endParaRPr>
            </a:p>
          </p:txBody>
        </p:sp>
        <p:sp>
          <p:nvSpPr>
            <p:cNvPr id="4" name="TextBox 4"/>
            <p:cNvSpPr txBox="1"/>
            <p:nvPr/>
          </p:nvSpPr>
          <p:spPr>
            <a:xfrm>
              <a:off x="0" y="3082048"/>
              <a:ext cx="9580132" cy="517683"/>
            </a:xfrm>
            <a:prstGeom prst="rect">
              <a:avLst/>
            </a:prstGeom>
          </p:spPr>
          <p:txBody>
            <a:bodyPr lIns="0" tIns="0" rIns="0" bIns="0" rtlCol="0" anchor="t">
              <a:spAutoFit/>
            </a:bodyPr>
            <a:lstStyle/>
            <a:p>
              <a:pPr marL="0" lvl="0" indent="0">
                <a:lnSpc>
                  <a:spcPts val="3359"/>
                </a:lnSpc>
              </a:pPr>
              <a:endParaRPr/>
            </a:p>
          </p:txBody>
        </p:sp>
      </p:grpSp>
      <p:sp>
        <p:nvSpPr>
          <p:cNvPr id="5" name="Freeform 5"/>
          <p:cNvSpPr/>
          <p:nvPr/>
        </p:nvSpPr>
        <p:spPr>
          <a:xfrm>
            <a:off x="1028700" y="2009212"/>
            <a:ext cx="6685176" cy="6673065"/>
          </a:xfrm>
          <a:custGeom>
            <a:avLst/>
            <a:gdLst/>
            <a:ahLst/>
            <a:cxnLst/>
            <a:rect l="l" t="t" r="r" b="b"/>
            <a:pathLst>
              <a:path w="6685176" h="6673065">
                <a:moveTo>
                  <a:pt x="0" y="0"/>
                </a:moveTo>
                <a:lnTo>
                  <a:pt x="6685176" y="0"/>
                </a:lnTo>
                <a:lnTo>
                  <a:pt x="6685176" y="6673065"/>
                </a:lnTo>
                <a:lnTo>
                  <a:pt x="0" y="6673065"/>
                </a:lnTo>
                <a:lnTo>
                  <a:pt x="0" y="0"/>
                </a:lnTo>
                <a:close/>
              </a:path>
            </a:pathLst>
          </a:custGeom>
          <a:blipFill>
            <a:blip r:embed="rId2"/>
            <a:stretch>
              <a:fillRect/>
            </a:stretch>
          </a:blipFill>
        </p:spPr>
      </p:sp>
      <p:sp>
        <p:nvSpPr>
          <p:cNvPr id="6" name="Freeform 6"/>
          <p:cNvSpPr/>
          <p:nvPr/>
        </p:nvSpPr>
        <p:spPr>
          <a:xfrm rot="-2501689">
            <a:off x="1714665" y="849144"/>
            <a:ext cx="1222316" cy="1160068"/>
          </a:xfrm>
          <a:custGeom>
            <a:avLst/>
            <a:gdLst/>
            <a:ahLst/>
            <a:cxnLst/>
            <a:rect l="l" t="t" r="r" b="b"/>
            <a:pathLst>
              <a:path w="1222316" h="1160068">
                <a:moveTo>
                  <a:pt x="0" y="0"/>
                </a:moveTo>
                <a:lnTo>
                  <a:pt x="1222316" y="0"/>
                </a:lnTo>
                <a:lnTo>
                  <a:pt x="1222316" y="1160068"/>
                </a:lnTo>
                <a:lnTo>
                  <a:pt x="0" y="1160068"/>
                </a:lnTo>
                <a:lnTo>
                  <a:pt x="0" y="0"/>
                </a:lnTo>
                <a:close/>
              </a:path>
            </a:pathLst>
          </a:custGeom>
          <a:blipFill>
            <a:blip r:embed="rId3"/>
            <a:stretch>
              <a:fillRect/>
            </a:stretch>
          </a:blipFill>
        </p:spPr>
      </p:sp>
      <p:sp>
        <p:nvSpPr>
          <p:cNvPr id="7" name="Freeform 7"/>
          <p:cNvSpPr/>
          <p:nvPr/>
        </p:nvSpPr>
        <p:spPr>
          <a:xfrm>
            <a:off x="5844677" y="7156703"/>
            <a:ext cx="1464004" cy="1525575"/>
          </a:xfrm>
          <a:custGeom>
            <a:avLst/>
            <a:gdLst/>
            <a:ahLst/>
            <a:cxnLst/>
            <a:rect l="l" t="t" r="r" b="b"/>
            <a:pathLst>
              <a:path w="1464004" h="1525575">
                <a:moveTo>
                  <a:pt x="0" y="0"/>
                </a:moveTo>
                <a:lnTo>
                  <a:pt x="1464004" y="0"/>
                </a:lnTo>
                <a:lnTo>
                  <a:pt x="1464004" y="1525574"/>
                </a:lnTo>
                <a:lnTo>
                  <a:pt x="0" y="1525574"/>
                </a:lnTo>
                <a:lnTo>
                  <a:pt x="0" y="0"/>
                </a:lnTo>
                <a:close/>
              </a:path>
            </a:pathLst>
          </a:custGeom>
          <a:blipFill>
            <a:blip r:embed="rId4"/>
            <a:stretch>
              <a:fillRect/>
            </a:stretch>
          </a:blipFill>
        </p:spPr>
      </p:sp>
      <p:sp>
        <p:nvSpPr>
          <p:cNvPr id="8" name="TextBox 8"/>
          <p:cNvSpPr txBox="1"/>
          <p:nvPr/>
        </p:nvSpPr>
        <p:spPr>
          <a:xfrm>
            <a:off x="12736549" y="1790700"/>
            <a:ext cx="1794078" cy="1422400"/>
          </a:xfrm>
          <a:prstGeom prst="rect">
            <a:avLst/>
          </a:prstGeom>
        </p:spPr>
        <p:txBody>
          <a:bodyPr lIns="0" tIns="0" rIns="0" bIns="0" rtlCol="0" anchor="t">
            <a:spAutoFit/>
          </a:bodyPr>
          <a:lstStyle/>
          <a:p>
            <a:pPr marL="0" lvl="0" indent="0" algn="ctr">
              <a:lnSpc>
                <a:spcPts val="10999"/>
              </a:lnSpc>
              <a:spcBef>
                <a:spcPct val="0"/>
              </a:spcBef>
            </a:pPr>
            <a:r>
              <a:rPr lang="en-US" sz="9999" dirty="0" smtClean="0">
                <a:solidFill>
                  <a:srgbClr val="F3F3F3"/>
                </a:solidFill>
                <a:latin typeface="Clear Sans Bold"/>
              </a:rPr>
              <a:t>03</a:t>
            </a:r>
            <a:endParaRPr lang="en-US" sz="9999" dirty="0">
              <a:solidFill>
                <a:srgbClr val="F3F3F3"/>
              </a:solidFill>
              <a:latin typeface="Clear Sans Bold"/>
            </a:endParaRPr>
          </a:p>
        </p:txBody>
      </p:sp>
      <p:pic>
        <p:nvPicPr>
          <p:cNvPr id="307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55742" y="5688028"/>
            <a:ext cx="8120084" cy="39624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arn(inVertical)">
                                      <p:cBhvr>
                                        <p:cTn id="10" dur="500"/>
                                        <p:tgtEl>
                                          <p:spTgt spid="2"/>
                                        </p:tgtEl>
                                      </p:cBhvr>
                                    </p:animEffect>
                                  </p:childTnLst>
                                </p:cTn>
                              </p:par>
                              <p:par>
                                <p:cTn id="11" presetID="16" presetClass="entr" presetSubtype="21" fill="hold" nodeType="withEffect">
                                  <p:stCondLst>
                                    <p:cond delay="0"/>
                                  </p:stCondLst>
                                  <p:childTnLst>
                                    <p:set>
                                      <p:cBhvr>
                                        <p:cTn id="12" dur="1" fill="hold">
                                          <p:stCondLst>
                                            <p:cond delay="0"/>
                                          </p:stCondLst>
                                        </p:cTn>
                                        <p:tgtEl>
                                          <p:spTgt spid="3074"/>
                                        </p:tgtEl>
                                        <p:attrNameLst>
                                          <p:attrName>style.visibility</p:attrName>
                                        </p:attrNameLst>
                                      </p:cBhvr>
                                      <p:to>
                                        <p:strVal val="visible"/>
                                      </p:to>
                                    </p:set>
                                    <p:animEffect transition="in" filter="barn(inVertical)">
                                      <p:cBhvr>
                                        <p:cTn id="13"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
        <p:cNvGrpSpPr/>
        <p:nvPr/>
      </p:nvGrpSpPr>
      <p:grpSpPr>
        <a:xfrm>
          <a:off x="0" y="0"/>
          <a:ext cx="0" cy="0"/>
          <a:chOff x="0" y="0"/>
          <a:chExt cx="0" cy="0"/>
        </a:xfrm>
      </p:grpSpPr>
      <p:sp>
        <p:nvSpPr>
          <p:cNvPr id="2" name="TextBox 2"/>
          <p:cNvSpPr txBox="1"/>
          <p:nvPr/>
        </p:nvSpPr>
        <p:spPr>
          <a:xfrm>
            <a:off x="2590800" y="7277100"/>
            <a:ext cx="12440501" cy="2026196"/>
          </a:xfrm>
          <a:prstGeom prst="rect">
            <a:avLst/>
          </a:prstGeom>
        </p:spPr>
        <p:txBody>
          <a:bodyPr lIns="0" tIns="0" rIns="0" bIns="0" rtlCol="0" anchor="t">
            <a:spAutoFit/>
          </a:bodyPr>
          <a:lstStyle/>
          <a:p>
            <a:pPr algn="ctr">
              <a:lnSpc>
                <a:spcPts val="7872"/>
              </a:lnSpc>
              <a:spcBef>
                <a:spcPct val="0"/>
              </a:spcBef>
            </a:pPr>
            <a:r>
              <a:rPr lang="en-US" sz="6500" b="1" dirty="0">
                <a:solidFill>
                  <a:srgbClr val="000000"/>
                </a:solidFill>
                <a:latin typeface="Times New Roman" panose="02020603050405020304" pitchFamily="18" charset="0"/>
                <a:cs typeface="Times New Roman" panose="02020603050405020304" pitchFamily="18" charset="0"/>
              </a:rPr>
              <a:t>THANK YOU</a:t>
            </a:r>
            <a:r>
              <a:rPr lang="en-US" sz="6500" b="1" dirty="0" smtClean="0">
                <a:solidFill>
                  <a:srgbClr val="000000"/>
                </a:solidFill>
                <a:latin typeface="Times New Roman" panose="02020603050405020304" pitchFamily="18" charset="0"/>
                <a:cs typeface="Times New Roman" panose="02020603050405020304" pitchFamily="18" charset="0"/>
              </a:rPr>
              <a:t>!</a:t>
            </a:r>
          </a:p>
          <a:p>
            <a:pPr algn="ctr">
              <a:lnSpc>
                <a:spcPts val="7872"/>
              </a:lnSpc>
              <a:spcBef>
                <a:spcPct val="0"/>
              </a:spcBef>
            </a:pPr>
            <a:r>
              <a:rPr lang="en-US" sz="4400" b="1" dirty="0" smtClean="0">
                <a:solidFill>
                  <a:srgbClr val="000000"/>
                </a:solidFill>
                <a:latin typeface="Times New Roman" panose="02020603050405020304" pitchFamily="18" charset="0"/>
                <a:cs typeface="Times New Roman" panose="02020603050405020304" pitchFamily="18" charset="0"/>
              </a:rPr>
              <a:t>Any questions?</a:t>
            </a:r>
            <a:endParaRPr lang="en-US" sz="4400" b="1" dirty="0">
              <a:solidFill>
                <a:srgbClr val="000000"/>
              </a:solidFill>
              <a:latin typeface="Times New Roman" panose="02020603050405020304" pitchFamily="18" charset="0"/>
              <a:cs typeface="Times New Roman" panose="02020603050405020304" pitchFamily="18" charset="0"/>
            </a:endParaRPr>
          </a:p>
        </p:txBody>
      </p:sp>
      <p:sp>
        <p:nvSpPr>
          <p:cNvPr id="3" name="Freeform 3"/>
          <p:cNvSpPr/>
          <p:nvPr/>
        </p:nvSpPr>
        <p:spPr>
          <a:xfrm rot="-1432890">
            <a:off x="12761964" y="3062605"/>
            <a:ext cx="849728" cy="742394"/>
          </a:xfrm>
          <a:custGeom>
            <a:avLst/>
            <a:gdLst/>
            <a:ahLst/>
            <a:cxnLst/>
            <a:rect l="l" t="t" r="r" b="b"/>
            <a:pathLst>
              <a:path w="849728" h="742394">
                <a:moveTo>
                  <a:pt x="0" y="0"/>
                </a:moveTo>
                <a:lnTo>
                  <a:pt x="849728" y="0"/>
                </a:lnTo>
                <a:lnTo>
                  <a:pt x="849728" y="742393"/>
                </a:lnTo>
                <a:lnTo>
                  <a:pt x="0" y="742393"/>
                </a:lnTo>
                <a:lnTo>
                  <a:pt x="0" y="0"/>
                </a:lnTo>
                <a:close/>
              </a:path>
            </a:pathLst>
          </a:custGeom>
          <a:blipFill>
            <a:blip r:embed="rId2"/>
            <a:stretch>
              <a:fillRect/>
            </a:stretch>
          </a:blipFill>
        </p:spPr>
      </p:sp>
      <p:sp>
        <p:nvSpPr>
          <p:cNvPr id="4" name="Freeform 4"/>
          <p:cNvSpPr/>
          <p:nvPr/>
        </p:nvSpPr>
        <p:spPr>
          <a:xfrm rot="2612243">
            <a:off x="4339117" y="4612096"/>
            <a:ext cx="1476586" cy="1064112"/>
          </a:xfrm>
          <a:custGeom>
            <a:avLst/>
            <a:gdLst/>
            <a:ahLst/>
            <a:cxnLst/>
            <a:rect l="l" t="t" r="r" b="b"/>
            <a:pathLst>
              <a:path w="1476586" h="1064112">
                <a:moveTo>
                  <a:pt x="0" y="0"/>
                </a:moveTo>
                <a:lnTo>
                  <a:pt x="1476585" y="0"/>
                </a:lnTo>
                <a:lnTo>
                  <a:pt x="1476585" y="1064112"/>
                </a:lnTo>
                <a:lnTo>
                  <a:pt x="0" y="1064112"/>
                </a:lnTo>
                <a:lnTo>
                  <a:pt x="0" y="0"/>
                </a:lnTo>
                <a:close/>
              </a:path>
            </a:pathLst>
          </a:custGeom>
          <a:blipFill>
            <a:blip r:embed="rId3"/>
            <a:stretch>
              <a:fillRect/>
            </a:stretch>
          </a:blipFill>
        </p:spPr>
      </p:sp>
      <p:sp>
        <p:nvSpPr>
          <p:cNvPr id="5" name="Freeform 5"/>
          <p:cNvSpPr/>
          <p:nvPr/>
        </p:nvSpPr>
        <p:spPr>
          <a:xfrm>
            <a:off x="5329618" y="1028700"/>
            <a:ext cx="7247704" cy="5833045"/>
          </a:xfrm>
          <a:custGeom>
            <a:avLst/>
            <a:gdLst/>
            <a:ahLst/>
            <a:cxnLst/>
            <a:rect l="l" t="t" r="r" b="b"/>
            <a:pathLst>
              <a:path w="7247704" h="5833045">
                <a:moveTo>
                  <a:pt x="0" y="0"/>
                </a:moveTo>
                <a:lnTo>
                  <a:pt x="7247705" y="0"/>
                </a:lnTo>
                <a:lnTo>
                  <a:pt x="7247705" y="5833045"/>
                </a:lnTo>
                <a:lnTo>
                  <a:pt x="0" y="5833045"/>
                </a:lnTo>
                <a:lnTo>
                  <a:pt x="0" y="0"/>
                </a:lnTo>
                <a:close/>
              </a:path>
            </a:pathLst>
          </a:custGeom>
          <a:blipFill>
            <a:blip r:embed="rId4"/>
            <a:stretch>
              <a:fillRect/>
            </a:stretch>
          </a:blipFill>
        </p:spPr>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anim calcmode="lin" valueType="num">
                                      <p:cBhvr>
                                        <p:cTn id="8"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500"/>
                                        <p:tgtEl>
                                          <p:spTgt spid="2">
                                            <p:txEl>
                                              <p:pRg st="1" end="1"/>
                                            </p:txEl>
                                          </p:spTgt>
                                        </p:tgtEl>
                                      </p:cBhvr>
                                    </p:animEffect>
                                    <p:anim calcmode="lin" valueType="num">
                                      <p:cBhvr>
                                        <p:cTn id="15"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361</TotalTime>
  <Words>533</Words>
  <Application>Microsoft Office PowerPoint</Application>
  <PresentationFormat>Custom</PresentationFormat>
  <Paragraphs>70</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Calibri</vt:lpstr>
      <vt:lpstr>Wingdings</vt:lpstr>
      <vt:lpstr>Arimo</vt:lpstr>
      <vt:lpstr>Cooper Black</vt:lpstr>
      <vt:lpstr>Times New Roman</vt:lpstr>
      <vt:lpstr>Helvetica</vt:lpstr>
      <vt:lpstr>Arial</vt:lpstr>
      <vt:lpstr>Clear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Đen Hiện đại Công nghệ Bản thuyết trình Phát biểu</dc:title>
  <dc:creator>Ka Lan</dc:creator>
  <cp:lastModifiedBy>PC</cp:lastModifiedBy>
  <cp:revision>34</cp:revision>
  <dcterms:created xsi:type="dcterms:W3CDTF">2006-08-16T00:00:00Z</dcterms:created>
  <dcterms:modified xsi:type="dcterms:W3CDTF">2024-05-26T21:13:06Z</dcterms:modified>
  <dc:identifier>DAF12PZ-0UA</dc:identifier>
</cp:coreProperties>
</file>